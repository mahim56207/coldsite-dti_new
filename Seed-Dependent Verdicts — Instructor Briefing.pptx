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paper checks whether AI models for drug discovery really show us where a drug binds, as their papers claim. One naming note first: our own model, which you knew as ColdSite-DTI, is now called XAttn-Ref. We renamed it on purpose. It is not the hero of this paper. It is one of the models under test, and it gets exactly the same treatment as the others. In total we trained 84 models: 28 combinations of model, dataset and split level, each trained with three different random seeds, on two standard datasets, DAVIS and KIBA. IF ASKED "Isn't it a conflict of interest to audit your own model?": That is why we renamed it neutrally and trained and scored it exactly like the others. We report its bad results too: at the residue level its attention is at chance, and on KIBA cold-drug its pocket enrichment is exactly 1.00, which is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the problem in plain terms. Drug-target AI models often show a heat map over the protein and say "look, it found the binding site." But there are four gaps. First, that map comes from one training run, and nobody checks whether a second run gives the same map. Second, the hit rate is rarely compared with what random guessing would score. Third, the map is really a big multi-layer tensor, and the papers don't say how they reduced it to one number per residue. Fourth, the standard benchmark leaks. In DAVIS, 54 mutant proteins carry exactly the normal protein's sequence. So 12 of the 88 "unseen" test proteins in the unseen-target split are actually seen in training. IF ASKED "The DAVIS problem is already known.": Yes, and we cite it: DAVIS-complete (2025) and Ong et al. (2023). What we add is the size of the effect. We retrained DeepDTA, at the cold-target split only, without the leak and at the same training size. On the leaked rows the sequence match inflates AUROC by 0.116 (p = 0.0013, three seeds). On the strictly unleaked rows no inflation is detectable (minus 0.019, p = 0.31). We do not headline the all-rows figure of 0.019, because its interval, minus 0.022 to plus 0.059, includes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tested four attention models, three published and one of ours, plus DeepDTA as a plain accuracy yardstick. We used each author's own code and training settings. The only thing we replaced was the data loading. Every model saw the same data splits. And before we judged any explanation, we checked that every model trained properly. On the standard random split they all score between 0.891 and 0.937 AUROC. So if an explanation fails, it's not because the model is broken. IF ASKED "Maybe you trained them badly?": We used the authors' code and settings, and random-split accuracy is in the normal range for DAVIS. We also caught and contained two defects in the published MolTrans code. One silently reset the random seed, so every seed trained as seed 1. We found it because three seeds gave identical scores, and we retrained. IF ASKED "These models are old.": They are the ones whose papers present attention maps as binding-site evidence, which is the claim we audit. Newer models are future work,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novelty is methodological. We did not build a better model. Other groups have already compared attention maps with binding sites: MONN, ICAN, InteractBind. What nobody had checked, as far as we found, is whether that verdict survives if you simply retrain with a different random seed. We measured this directly. Same code, same data, same settings, only the seed changes, and the verdict often flips. We also built a test battery that says when a verdict can be trusted, and we release the code so anyone can apply it. IF ASKED "Is this proven?": It is measured, not a theorem. To show that seed choice CAN flip a verdict, you need real cases where it happens, and we have 11. More seeds can tell us how often, but they cannot make those flips disappear. IF ASKED "ISAAC already reported seed stability.": ISAAC measures a different thing, intervention-based reasoning scores. Its scores were stable; our localisation verdicts are not. The two are complementary, and we say so in Discussion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the core evidence. We trained each model three times, changing only the seed. Then we asked each run the question a normal paper asks: does this map hit binding sites better than chance? In 11 out of 22 cases, the three runs don't agree: they fall on different sides of the usual 0.05 threshold. Some say yes, some say no. Look at HyperAttentionDTI here. Same recipe, and one run is about four times better than another. Two runs would let you publish a "significant" result, and the third would not. Only 1 cell out of 22 had all three seeds pass. 10 had none pass. The spread between seeds is bigger than the distance from chance in 21 of 22 cells, and when we test seed variance directly, with Friedman and permutation tests, 7 to 8 of 22 cells show significant differences between seeds even after Holm correction. IF ASKED "Is this just GPU hardware randomness?": Possibly in part, and we do not separate the two. A seed changes the starting weights and the batch order, and GPU non-determinism adds noise on top. But the practical point holds either way: a reader who reruns the published recipe can get the opposite verdict. That is exactly what a single-run figure hides. IF ASKED "Why an uncorrected test?": On purpose. It is what a single-seed paper would report. The strict corrected test is separate and harsher: only 1 of 20 DAVIS cells survives, using the median p over the three seeds. Tested seed by seed, 5 seed-runs survive. IF ASKED "Why 11 and not 12 like your earlier run?": The first run used 1,000 random permutations and one borderline seed, MolTrans random seed 1, had a sampled p of 0.049. The exact p-value is 0.056, so that cell moves to agreeing and the count is 11. IF ASKED "How do you know the seeds were really different?": The per-seed scores differ for every model in the table. The MolTrans seed bug is how we know we would notice if they didn't. From now on, the cloud harness records a hash of the starting weights for every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usual way to put error bars on these numbers resamples the proteins only. It treats one training run as the truth. So we built a two-way bootstrap that resamples both the proteins and the seeds. Watch what happens. This HyperAttentionDTI result looks rock solid with the usual method, nowhere near chance. Once seed variance is counted, the error bar crosses chance. Across the board, residue-level claims above chance drop from 7 to 1, and pocket-level claims drop from 15 to 9. The one residue-level claim that survives is the same one that survives our strict corrected test. The two methods agree. IF ASKED "Doesn't weakening your own results hurt the paper?": No, it IS the finding. If seed variance didn't matter, the intervals wouldn't move. They move a lot. IF ASKED "Did you add the 2D bootstrap after seeing the results?": Yes, and we say so. The protocol amendment specified the proteins-only version, and we keep it for comparison. The change can only make claims harder to pass, never easier. With three seeds the intervals are conservative, and the paper states that too. IF ASKED "What survives on the pocket?": XAttn-Ref at all four DAVIS levels, HyperAttentionDTI at three, one of them (cold-pair) only marginal. But there is no conservation control, so we call that coarse enrichment, not learned chemistry.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Next question: does the model actually USE the residues it attends to? We mask the top ten attended residues and see how much the prediction changes, compared with masking ten random ones. For three models the answer is clearly yes, in all 16 cells, with every error bar above zero. DrugBAN is different, and we show its raw numbers so nothing is hidden. For seed 1, masking its attended residues changes the prediction by LESS than masking random ones: minus 0.0073 and minus 0.0037. For seed 3 the sign flips to plus: 0.0128 and 0.0027. All of these are close to zero. So DrugBAN's attention is not reliably load-bearing. IF ASKED "Why does DrugBAN have no error bars?": Its first analysis run saved only the averages, not the per-pair values. Re-running needs a graph library, DGL, that was not available on our analysis machine. The re-run is planned. So we report the point estimates openly instead of dropping DrugBAN. IF ASKED "Why is MolTrans on a different scale?": It reads proteins as multi-residue word pieces, so we mask in its own token space. The control is size-matched, but the magnitudes are not comparable with the other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what we propose to fix this. Eight simple checks, and every one comes from something that changed a verdict in our data. The blue line under each item is that finding. The two biggest: report more than one seed, and compare against chance with a proper correction. Both are cheap compared with training, and our released code does them automatically for any model that gives one score per residue. IF ASKED "Isn't this obvious?": Each item is there because skipping it changed a result. Example: two reasonable ways of reading the SAME HyperAttentionDTI weights put 0.367 and 0.081 of the top ten residues in the pocket, against a chance of 0.140. One says 2.6 times chance, the other says below chance. And the MolTrans readout we scored gives the same top ten for every drug in 100% of drug pairs, so that readout cannot mark a particular drug's binding site. MolTrans's interaction map is a different readout and does vary with the drug, so the claim is about the readout, not the whole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gaps remain, and we planned both before seeing any of their results. First, three seeds is a small number, so we will add seeds 4 and 5 for three models. Second, DrugBAN has no KIBA results yet. That's 30 training jobs split across three Kaggle accounts. Each job is assigned exactly once, and the hours are estimated from measured training speeds, not guesses. The seed jobs need about 23 GPU-hours per account, which fits the weekly quota with a safety margin. The notebooks are built and pass their checks. On purpose, they won't start training until a canary run reproduces one of our existing results. None of this future work is in any number in the paper. IF ASKED "Why hasn't it run yet?": Deliberate gating. If the new cloud harness changed the numbers, we would rather know before spending about 46 GPU-hours. The canary checks that first. IF ASKED "How long will DrugBAN take?": We don't know yet, and we won't guess. No timing record exists, so a short timing run comes first. The plan says so. IF ASKED "Will seeds 4 and 5 change your headline?": They are a separately declared family, reported beside the original results, not merged in. They can refine how often seeds disagree, but they cannot undo the 12 disagreements we already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 up. For the models we tested, a single attention figure can't support a claim that the model found the binding site. The verdict changes between seeds, it rarely survives a proper test, and it depends on choices papers don't report. What DOES hold up is coarser: three of the four models really do use what they attend to, and two focus on the kinase pocket at most levels. And as Figure 4 shows, a more accurate model is not a better localiser. Our message to the field is simple: use several seeds, compare with chance, correct your tests, state your readout, and check your splits by sequence. Two things sit beside the results. The benchmark itself leaks: 12 of the 88 "unseen" proteins were seen in training by sequence, and for the baseline we retrained the sequence match inflates AUROC on those rows by 0.116 (p = 0.0013), with no detectable inflation on the truly unseen rows. And the fix is the eight-point checklist on slide 8: each item exists because skipping it changed a result in our data. Every number in this paper is automatically traced back to the file it came from. IF ASKED "Isn't this just a negative result?": It is a negative result with a positive tool. The checklist and the released code let anyone test their own model before publishing. IF ASKED "Does it apply beyond kinases?": We don't claim it does. Both datasets are kinase panels, and we scope every claim to kinases.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 Id="rId7" Type="http://schemas.openxmlformats.org/officeDocument/2006/relationships/image" Target="../media/image-2-4.png"/><Relationship Id="rId8"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INSTRUCTOR BRIEFING · 25 SEPTEMBER 2026</a:t>
            </a:r>
            <a:endParaRPr lang="en-US" sz="1200" dirty="0"/>
          </a:p>
        </p:txBody>
      </p:sp>
      <p:sp>
        <p:nvSpPr>
          <p:cNvPr id="3" name="Text 1"/>
          <p:cNvSpPr/>
          <p:nvPr/>
        </p:nvSpPr>
        <p:spPr>
          <a:xfrm>
            <a:off x="812800" y="1178520"/>
            <a:ext cx="10883392" cy="7721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3EFE6"/>
                </a:solidFill>
                <a:latin typeface="Source Serif 4" pitchFamily="34" charset="0"/>
                <a:ea typeface="Source Serif 4" pitchFamily="34" charset="-122"/>
                <a:cs typeface="Source Serif 4" pitchFamily="34" charset="-120"/>
              </a:rPr>
              <a:t>Seed-dependent verdicts</a:t>
            </a:r>
            <a:endParaRPr lang="en-US" sz="5600" dirty="0"/>
          </a:p>
        </p:txBody>
      </p:sp>
      <p:sp>
        <p:nvSpPr>
          <p:cNvPr id="4" name="Text 2"/>
          <p:cNvSpPr/>
          <p:nvPr/>
        </p:nvSpPr>
        <p:spPr>
          <a:xfrm>
            <a:off x="812800" y="2077641"/>
            <a:ext cx="91567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FCBDD"/>
                </a:solidFill>
                <a:latin typeface="IBM Plex Sans" pitchFamily="34" charset="0"/>
                <a:ea typeface="IBM Plex Sans" pitchFamily="34" charset="-122"/>
                <a:cs typeface="IBM Plex Sans" pitchFamily="34" charset="-120"/>
              </a:rPr>
              <a:t>A calibrated audit of attention-based binding-site explanations in drug–target interaction models</a:t>
            </a:r>
            <a:endParaRPr lang="en-US" sz="2000" dirty="0"/>
          </a:p>
        </p:txBody>
      </p:sp>
      <p:sp>
        <p:nvSpPr>
          <p:cNvPr id="5" name="Shape 3"/>
          <p:cNvSpPr/>
          <p:nvPr/>
        </p:nvSpPr>
        <p:spPr>
          <a:xfrm>
            <a:off x="812800" y="3644950"/>
            <a:ext cx="6131570" cy="1244501"/>
          </a:xfrm>
          <a:prstGeom prst="roundRect">
            <a:avLst>
              <a:gd name="adj" fmla="val 6123"/>
            </a:avLst>
          </a:prstGeom>
          <a:solidFill>
            <a:srgbClr val="1F2F52"/>
          </a:solidFill>
          <a:ln/>
        </p:spPr>
      </p:sp>
      <p:sp>
        <p:nvSpPr>
          <p:cNvPr id="6" name="Shape 4"/>
          <p:cNvSpPr/>
          <p:nvPr/>
        </p:nvSpPr>
        <p:spPr>
          <a:xfrm>
            <a:off x="812800" y="3644950"/>
            <a:ext cx="6131570" cy="1244501"/>
          </a:xfrm>
          <a:custGeom>
            <a:avLst/>
            <a:gdLst/>
            <a:ahLst/>
            <a:cxnLst/>
            <a:rect l="l" t="t" r="r" b="b"/>
            <a:pathLst>
              <a:path w="6131570" h="1244501">
                <a:moveTo>
                  <a:pt x="76200" y="1244501"/>
                </a:moveTo>
                <a:lnTo>
                  <a:pt x="76200" y="1244501"/>
                </a:lnTo>
                <a:arcTo hR="76200" wR="76200" stAng="5400000" swAng="5400000"/>
                <a:lnTo>
                  <a:pt x="0" y="76200"/>
                </a:lnTo>
                <a:arcTo hR="76200" wR="76200" stAng="10800000" swAng="5400000"/>
                <a:lnTo>
                  <a:pt x="76200" y="0"/>
                </a:lnTo>
                <a:arcTo hR="76200" wR="38100" stAng="16200000" swAng="-5400000"/>
                <a:lnTo>
                  <a:pt x="38100" y="1168301"/>
                </a:lnTo>
                <a:arcTo hR="76200" wR="38100" stAng="10800000" swAng="-5400000"/>
                <a:close/>
              </a:path>
            </a:pathLst>
          </a:custGeom>
          <a:solidFill>
            <a:srgbClr val="F08A4B"/>
          </a:solidFill>
          <a:ln/>
        </p:spPr>
      </p:sp>
      <p:sp>
        <p:nvSpPr>
          <p:cNvPr id="7" name="Text 5"/>
          <p:cNvSpPr/>
          <p:nvPr/>
        </p:nvSpPr>
        <p:spPr>
          <a:xfrm>
            <a:off x="1104900" y="3848150"/>
            <a:ext cx="575303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IBM Plex Sans" pitchFamily="34" charset="0"/>
                <a:ea typeface="IBM Plex Sans" pitchFamily="34" charset="-122"/>
                <a:cs typeface="IBM Plex Sans" pitchFamily="34" charset="-120"/>
              </a:rPr>
              <a:t>NAMING NOTE</a:t>
            </a:r>
            <a:endParaRPr lang="en-US" sz="1200" dirty="0"/>
          </a:p>
        </p:txBody>
      </p:sp>
      <p:sp>
        <p:nvSpPr>
          <p:cNvPr id="8" name="Text 6"/>
          <p:cNvSpPr/>
          <p:nvPr/>
        </p:nvSpPr>
        <p:spPr>
          <a:xfrm>
            <a:off x="1104900" y="4137670"/>
            <a:ext cx="575303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3EFE6"/>
                </a:solidFill>
                <a:latin typeface="IBM Plex Sans" pitchFamily="34" charset="0"/>
                <a:ea typeface="IBM Plex Sans" pitchFamily="34" charset="-122"/>
                <a:cs typeface="IBM Plex Sans" pitchFamily="34" charset="-120"/>
              </a:rPr>
              <a:t>Our in-house model, </a:t>
            </a:r>
            <a:r>
              <a:rPr lang="en-US" sz="1600" b="1" dirty="0">
                <a:solidFill>
                  <a:srgbClr val="F3EFE6"/>
                </a:solidFill>
                <a:latin typeface="IBM Plex Sans" pitchFamily="34" charset="0"/>
                <a:ea typeface="IBM Plex Sans" pitchFamily="34" charset="-122"/>
                <a:cs typeface="IBM Plex Sans" pitchFamily="34" charset="-120"/>
              </a:rPr>
              <a:t>ColdSite-DTI</a:t>
            </a:r>
            <a:r>
              <a:rPr lang="en-US" sz="1600" dirty="0">
                <a:solidFill>
                  <a:srgbClr val="F3EFE6"/>
                </a:solidFill>
                <a:latin typeface="IBM Plex Sans" pitchFamily="34" charset="0"/>
                <a:ea typeface="IBM Plex Sans" pitchFamily="34" charset="-122"/>
                <a:cs typeface="IBM Plex Sans" pitchFamily="34" charset="-120"/>
              </a:rPr>
              <a:t> in the code repository, is called </a:t>
            </a:r>
            <a:r>
              <a:rPr lang="en-US" sz="1600" b="1" dirty="0">
                <a:solidFill>
                  <a:srgbClr val="F3EFE6"/>
                </a:solidFill>
                <a:latin typeface="IBM Plex Sans" pitchFamily="34" charset="0"/>
                <a:ea typeface="IBM Plex Sans" pitchFamily="34" charset="-122"/>
                <a:cs typeface="IBM Plex Sans" pitchFamily="34" charset="-120"/>
              </a:rPr>
              <a:t>XAttn-Ref</a:t>
            </a:r>
            <a:r>
              <a:rPr lang="en-US" sz="1600" dirty="0">
                <a:solidFill>
                  <a:srgbClr val="F3EFE6"/>
                </a:solidFill>
                <a:latin typeface="IBM Plex Sans" pitchFamily="34" charset="0"/>
                <a:ea typeface="IBM Plex Sans" pitchFamily="34" charset="-122"/>
                <a:cs typeface="IBM Plex Sans" pitchFamily="34" charset="-120"/>
              </a:rPr>
              <a:t> in the paper.</a:t>
            </a:r>
            <a:endParaRPr lang="en-US" sz="1600" dirty="0"/>
          </a:p>
        </p:txBody>
      </p:sp>
      <p:sp>
        <p:nvSpPr>
          <p:cNvPr id="9" name="Shape 7"/>
          <p:cNvSpPr/>
          <p:nvPr/>
        </p:nvSpPr>
        <p:spPr>
          <a:xfrm>
            <a:off x="7147570" y="3644950"/>
            <a:ext cx="4231630" cy="1244501"/>
          </a:xfrm>
          <a:prstGeom prst="roundRect">
            <a:avLst>
              <a:gd name="adj" fmla="val 6123"/>
            </a:avLst>
          </a:prstGeom>
          <a:solidFill>
            <a:srgbClr val="1F2F52"/>
          </a:solidFill>
          <a:ln/>
        </p:spPr>
      </p:sp>
      <p:sp>
        <p:nvSpPr>
          <p:cNvPr id="10" name="Text 8"/>
          <p:cNvSpPr/>
          <p:nvPr/>
        </p:nvSpPr>
        <p:spPr>
          <a:xfrm>
            <a:off x="7401570" y="3954810"/>
            <a:ext cx="3835339"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3EFE6"/>
                </a:solidFill>
                <a:latin typeface="IBM Plex Sans" pitchFamily="34" charset="0"/>
                <a:ea typeface="IBM Plex Sans" pitchFamily="34" charset="-122"/>
                <a:cs typeface="IBM Plex Sans" pitchFamily="34" charset="-120"/>
              </a:rPr>
              <a:t>5 models · 2 datasets</a:t>
            </a:r>
            <a:endParaRPr lang="en-US" sz="1600" dirty="0"/>
          </a:p>
        </p:txBody>
      </p:sp>
      <p:sp>
        <p:nvSpPr>
          <p:cNvPr id="11" name="Text 9"/>
          <p:cNvSpPr/>
          <p:nvPr/>
        </p:nvSpPr>
        <p:spPr>
          <a:xfrm>
            <a:off x="7401570" y="4305300"/>
            <a:ext cx="3835339"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3EFE6"/>
                </a:solidFill>
                <a:latin typeface="IBM Plex Sans" pitchFamily="34" charset="0"/>
                <a:ea typeface="IBM Plex Sans" pitchFamily="34" charset="-122"/>
                <a:cs typeface="IBM Plex Sans" pitchFamily="34" charset="-120"/>
              </a:rPr>
              <a:t>84 trained models · 28 setups × 3 seeds</a:t>
            </a:r>
            <a:endParaRPr lang="en-US" sz="1600" dirty="0"/>
          </a:p>
        </p:txBody>
      </p:sp>
      <p:sp>
        <p:nvSpPr>
          <p:cNvPr id="12" name="Text 10"/>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D"/>
                </a:solidFill>
                <a:latin typeface="IBM Plex Sans" pitchFamily="34" charset="0"/>
                <a:ea typeface="IBM Plex Sans" pitchFamily="34" charset="-122"/>
                <a:cs typeface="IBM Plex Sans" pitchFamily="34" charset="-120"/>
              </a:rPr>
              <a:t>Mahim · Supervisor: Dr. Chandra Mohan Dasari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A1A"/>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Source Serif 4" pitchFamily="34" charset="0"/>
                <a:ea typeface="Source Serif 4" pitchFamily="34" charset="-122"/>
                <a:cs typeface="Source Serif 4" pitchFamily="34" charset="-120"/>
              </a:rPr>
              <a:t>One attention map from one run is not evidence</a:t>
            </a:r>
            <a:endParaRPr lang="en-US" sz="3000" dirty="0"/>
          </a:p>
        </p:txBody>
      </p:sp>
      <p:sp>
        <p:nvSpPr>
          <p:cNvPr id="4" name="Shape 2"/>
          <p:cNvSpPr/>
          <p:nvPr/>
        </p:nvSpPr>
        <p:spPr>
          <a:xfrm>
            <a:off x="815975" y="1753195"/>
            <a:ext cx="2520950" cy="1451570"/>
          </a:xfrm>
          <a:prstGeom prst="roundRect">
            <a:avLst>
              <a:gd name="adj" fmla="val 6781"/>
            </a:avLst>
          </a:prstGeom>
          <a:solidFill>
            <a:srgbClr val="FFFEFB"/>
          </a:solidFill>
          <a:ln w="6350">
            <a:solidFill>
              <a:srgbClr val="DDE1E6"/>
            </a:solidFill>
            <a:prstDash val="solid"/>
          </a:ln>
        </p:spPr>
      </p:sp>
      <p:pic>
        <p:nvPicPr>
          <p:cNvPr id="5" name="Image 0" descr="Play">    </p:cNvPr>
          <p:cNvPicPr>
            <a:picLocks noChangeAspect="1"/>
          </p:cNvPicPr>
          <p:nvPr/>
        </p:nvPicPr>
        <p:blipFill>
          <a:blip r:embed="rId1"/>
          <a:srcRect l="0" r="0" t="0" b="0"/>
          <a:stretch/>
        </p:blipFill>
        <p:spPr>
          <a:xfrm>
            <a:off x="1022350" y="1967161"/>
            <a:ext cx="228600" cy="228600"/>
          </a:xfrm>
          <a:prstGeom prst="rect">
            <a:avLst/>
          </a:prstGeom>
        </p:spPr>
      </p:pic>
      <p:sp>
        <p:nvSpPr>
          <p:cNvPr id="6" name="Text 3"/>
          <p:cNvSpPr/>
          <p:nvPr/>
        </p:nvSpPr>
        <p:spPr>
          <a:xfrm>
            <a:off x="1352550" y="1959570"/>
            <a:ext cx="79508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One run</a:t>
            </a:r>
            <a:endParaRPr lang="en-US" sz="1600" dirty="0"/>
          </a:p>
        </p:txBody>
      </p:sp>
      <p:sp>
        <p:nvSpPr>
          <p:cNvPr id="7" name="Text 4"/>
          <p:cNvSpPr/>
          <p:nvPr/>
        </p:nvSpPr>
        <p:spPr>
          <a:xfrm>
            <a:off x="1022350" y="2305000"/>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The map comes from one training run. A second run is never checked.</a:t>
            </a:r>
            <a:endParaRPr lang="en-US" sz="1300" dirty="0"/>
          </a:p>
        </p:txBody>
      </p:sp>
      <p:sp>
        <p:nvSpPr>
          <p:cNvPr id="8" name="Shape 5"/>
          <p:cNvSpPr/>
          <p:nvPr/>
        </p:nvSpPr>
        <p:spPr>
          <a:xfrm>
            <a:off x="3495675" y="1753195"/>
            <a:ext cx="2520950" cy="1451570"/>
          </a:xfrm>
          <a:prstGeom prst="roundRect">
            <a:avLst>
              <a:gd name="adj" fmla="val 6781"/>
            </a:avLst>
          </a:prstGeom>
          <a:solidFill>
            <a:srgbClr val="FFFEFB"/>
          </a:solidFill>
          <a:ln w="6350">
            <a:solidFill>
              <a:srgbClr val="DDE1E6"/>
            </a:solidFill>
            <a:prstDash val="solid"/>
          </a:ln>
        </p:spPr>
      </p:sp>
      <p:pic>
        <p:nvPicPr>
          <p:cNvPr id="9" name="Image 1" descr="Chart">    </p:cNvPr>
          <p:cNvPicPr>
            <a:picLocks noChangeAspect="1"/>
          </p:cNvPicPr>
          <p:nvPr/>
        </p:nvPicPr>
        <p:blipFill>
          <a:blip r:embed="rId2"/>
          <a:srcRect l="0" r="0" t="0" b="0"/>
          <a:stretch/>
        </p:blipFill>
        <p:spPr>
          <a:xfrm>
            <a:off x="3702050" y="1967161"/>
            <a:ext cx="228600" cy="228600"/>
          </a:xfrm>
          <a:prstGeom prst="rect">
            <a:avLst/>
          </a:prstGeom>
        </p:spPr>
      </p:pic>
      <p:sp>
        <p:nvSpPr>
          <p:cNvPr id="10" name="Text 6"/>
          <p:cNvSpPr/>
          <p:nvPr/>
        </p:nvSpPr>
        <p:spPr>
          <a:xfrm>
            <a:off x="4032250" y="1959570"/>
            <a:ext cx="12272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No yardstick</a:t>
            </a:r>
            <a:endParaRPr lang="en-US" sz="1600" dirty="0"/>
          </a:p>
        </p:txBody>
      </p:sp>
      <p:sp>
        <p:nvSpPr>
          <p:cNvPr id="11" name="Text 7"/>
          <p:cNvSpPr/>
          <p:nvPr/>
        </p:nvSpPr>
        <p:spPr>
          <a:xfrm>
            <a:off x="3702050" y="2305000"/>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Hit rates are not compared with chance or corrected for many tests.</a:t>
            </a:r>
            <a:endParaRPr lang="en-US" sz="1300" dirty="0"/>
          </a:p>
        </p:txBody>
      </p:sp>
      <p:sp>
        <p:nvSpPr>
          <p:cNvPr id="12" name="Shape 8"/>
          <p:cNvSpPr/>
          <p:nvPr/>
        </p:nvSpPr>
        <p:spPr>
          <a:xfrm>
            <a:off x="6175375" y="1753195"/>
            <a:ext cx="2520950" cy="1451570"/>
          </a:xfrm>
          <a:prstGeom prst="roundRect">
            <a:avLst>
              <a:gd name="adj" fmla="val 6781"/>
            </a:avLst>
          </a:prstGeom>
          <a:solidFill>
            <a:srgbClr val="FFFEFB"/>
          </a:solidFill>
          <a:ln w="6350">
            <a:solidFill>
              <a:srgbClr val="DDE1E6"/>
            </a:solidFill>
            <a:prstDash val="solid"/>
          </a:ln>
        </p:spPr>
      </p:sp>
      <p:pic>
        <p:nvPicPr>
          <p:cNvPr id="13" name="Image 2" descr="Settings">    </p:cNvPr>
          <p:cNvPicPr>
            <a:picLocks noChangeAspect="1"/>
          </p:cNvPicPr>
          <p:nvPr/>
        </p:nvPicPr>
        <p:blipFill>
          <a:blip r:embed="rId3"/>
          <a:srcRect l="0" r="0" t="0" b="0"/>
          <a:stretch/>
        </p:blipFill>
        <p:spPr>
          <a:xfrm>
            <a:off x="6381750" y="1967161"/>
            <a:ext cx="228600" cy="228600"/>
          </a:xfrm>
          <a:prstGeom prst="rect">
            <a:avLst/>
          </a:prstGeom>
        </p:spPr>
      </p:pic>
      <p:sp>
        <p:nvSpPr>
          <p:cNvPr id="14" name="Text 9"/>
          <p:cNvSpPr/>
          <p:nvPr/>
        </p:nvSpPr>
        <p:spPr>
          <a:xfrm>
            <a:off x="6711950" y="1959570"/>
            <a:ext cx="136515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Hidden recipe</a:t>
            </a:r>
            <a:endParaRPr lang="en-US" sz="1600" dirty="0"/>
          </a:p>
        </p:txBody>
      </p:sp>
      <p:sp>
        <p:nvSpPr>
          <p:cNvPr id="15" name="Text 10"/>
          <p:cNvSpPr/>
          <p:nvPr/>
        </p:nvSpPr>
        <p:spPr>
          <a:xfrm>
            <a:off x="6381750" y="2305000"/>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Nobody states how the attention tensor became one score per residue.</a:t>
            </a:r>
            <a:endParaRPr lang="en-US" sz="1300" dirty="0"/>
          </a:p>
        </p:txBody>
      </p:sp>
      <p:sp>
        <p:nvSpPr>
          <p:cNvPr id="16" name="Shape 11"/>
          <p:cNvSpPr/>
          <p:nvPr/>
        </p:nvSpPr>
        <p:spPr>
          <a:xfrm>
            <a:off x="8855075" y="1753195"/>
            <a:ext cx="2520950" cy="1451570"/>
          </a:xfrm>
          <a:prstGeom prst="roundRect">
            <a:avLst>
              <a:gd name="adj" fmla="val 6781"/>
            </a:avLst>
          </a:prstGeom>
          <a:solidFill>
            <a:srgbClr val="FFFEFB"/>
          </a:solidFill>
          <a:ln w="6350">
            <a:solidFill>
              <a:srgbClr val="DDE1E6"/>
            </a:solidFill>
            <a:prstDash val="solid"/>
          </a:ln>
        </p:spPr>
      </p:sp>
      <p:pic>
        <p:nvPicPr>
          <p:cNvPr id="17" name="Image 3" descr="Warning">    </p:cNvPr>
          <p:cNvPicPr>
            <a:picLocks noChangeAspect="1"/>
          </p:cNvPicPr>
          <p:nvPr/>
        </p:nvPicPr>
        <p:blipFill>
          <a:blip r:embed="rId4"/>
          <a:srcRect l="0" r="0" t="0" b="0"/>
          <a:stretch/>
        </p:blipFill>
        <p:spPr>
          <a:xfrm>
            <a:off x="9061450" y="1967161"/>
            <a:ext cx="228600" cy="228600"/>
          </a:xfrm>
          <a:prstGeom prst="rect">
            <a:avLst/>
          </a:prstGeom>
        </p:spPr>
      </p:pic>
      <p:sp>
        <p:nvSpPr>
          <p:cNvPr id="18" name="Text 12"/>
          <p:cNvSpPr/>
          <p:nvPr/>
        </p:nvSpPr>
        <p:spPr>
          <a:xfrm>
            <a:off x="9391650" y="1959570"/>
            <a:ext cx="111521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Leaky tests</a:t>
            </a:r>
            <a:endParaRPr lang="en-US" sz="1600" dirty="0"/>
          </a:p>
        </p:txBody>
      </p:sp>
      <p:sp>
        <p:nvSpPr>
          <p:cNvPr id="19" name="Text 13"/>
          <p:cNvSpPr/>
          <p:nvPr/>
        </p:nvSpPr>
        <p:spPr>
          <a:xfrm>
            <a:off x="9061450" y="2305000"/>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DAVIS marks proteins “unseen” by name, not by sequence.</a:t>
            </a:r>
            <a:endParaRPr lang="en-US" sz="1300" dirty="0"/>
          </a:p>
        </p:txBody>
      </p:sp>
      <p:sp>
        <p:nvSpPr>
          <p:cNvPr id="20" name="Shape 14"/>
          <p:cNvSpPr/>
          <p:nvPr/>
        </p:nvSpPr>
        <p:spPr>
          <a:xfrm>
            <a:off x="815975" y="3465116"/>
            <a:ext cx="4476750" cy="1936750"/>
          </a:xfrm>
          <a:prstGeom prst="roundRect">
            <a:avLst>
              <a:gd name="adj" fmla="val 3770"/>
            </a:avLst>
          </a:prstGeom>
          <a:solidFill>
            <a:srgbClr val="FFFEFB"/>
          </a:solidFill>
          <a:ln w="6350">
            <a:solidFill>
              <a:srgbClr val="DDE1E6"/>
            </a:solidFill>
            <a:prstDash val="solid"/>
          </a:ln>
        </p:spPr>
      </p:sp>
      <p:pic>
        <p:nvPicPr>
          <p:cNvPr id="21" name="Image 4" descr="Figure 6: DeepDTA test AUROC at cold-target and cold-pair on the original, sequence-cleaned and size-matched training sets">    </p:cNvPr>
          <p:cNvPicPr>
            <a:picLocks noChangeAspect="1"/>
          </p:cNvPicPr>
          <p:nvPr/>
        </p:nvPicPr>
        <p:blipFill>
          <a:blip r:embed="rId5"/>
          <a:srcRect l="-7" r="-7" t="0" b="0"/>
          <a:stretch/>
        </p:blipFill>
        <p:spPr>
          <a:xfrm>
            <a:off x="895350" y="3544491"/>
            <a:ext cx="4318000" cy="1778000"/>
          </a:xfrm>
          <a:prstGeom prst="rect">
            <a:avLst/>
          </a:prstGeom>
        </p:spPr>
      </p:pic>
      <p:sp>
        <p:nvSpPr>
          <p:cNvPr id="22" name="Text 15"/>
          <p:cNvSpPr/>
          <p:nvPr/>
        </p:nvSpPr>
        <p:spPr>
          <a:xfrm>
            <a:off x="5600700" y="3712170"/>
            <a:ext cx="59518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The leak, measured (Figure 6)</a:t>
            </a:r>
            <a:endParaRPr lang="en-US" sz="1600" dirty="0"/>
          </a:p>
        </p:txBody>
      </p:sp>
      <p:sp>
        <p:nvSpPr>
          <p:cNvPr id="23" name="Text 16"/>
          <p:cNvSpPr/>
          <p:nvPr/>
        </p:nvSpPr>
        <p:spPr>
          <a:xfrm>
            <a:off x="5600700" y="4057600"/>
            <a:ext cx="595185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54 DAVIS mutants carry the normal sequence, so 12 of 88 “unseen” cold-target proteins are seen in training.</a:t>
            </a:r>
            <a:endParaRPr lang="en-US" sz="1400" dirty="0"/>
          </a:p>
        </p:txBody>
      </p:sp>
      <p:sp>
        <p:nvSpPr>
          <p:cNvPr id="24" name="Text 17"/>
          <p:cNvSpPr/>
          <p:nvPr/>
        </p:nvSpPr>
        <p:spPr>
          <a:xfrm>
            <a:off x="5600700" y="4656981"/>
            <a:ext cx="5951855" cy="10972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DeepDTA, cold-target split, retrained without the leak: on the leaked rows the sequence match inflates AUROC by </a:t>
            </a:r>
            <a:r>
              <a:rPr lang="en-US" sz="1400" b="1" dirty="0">
                <a:solidFill>
                  <a:srgbClr val="3E4A5C"/>
                </a:solidFill>
                <a:latin typeface="IBM Plex Sans" pitchFamily="34" charset="0"/>
                <a:ea typeface="IBM Plex Sans" pitchFamily="34" charset="-122"/>
                <a:cs typeface="IBM Plex Sans" pitchFamily="34" charset="-120"/>
              </a:rPr>
              <a:t>+0.116</a:t>
            </a:r>
            <a:r>
              <a:rPr lang="en-US" sz="1400" dirty="0">
                <a:solidFill>
                  <a:srgbClr val="3E4A5C"/>
                </a:solidFill>
                <a:latin typeface="IBM Plex Sans" pitchFamily="34" charset="0"/>
                <a:ea typeface="IBM Plex Sans" pitchFamily="34" charset="-122"/>
                <a:cs typeface="IBM Plex Sans" pitchFamily="34" charset="-120"/>
              </a:rPr>
              <a:t> (p = 0.0013). On the strictly unleaked rows no inflation is detectable (−0.019, p = 0.31).</a:t>
            </a:r>
            <a:r>
              <a:rPr lang="en-US" sz="1400" b="1" dirty="0">
                <a:solidFill>
                  <a:srgbClr val="3E4A5C"/>
                </a:solidFill>
                <a:latin typeface="IBM Plex Sans" pitchFamily="34" charset="0"/>
                <a:ea typeface="IBM Plex Sans" pitchFamily="34" charset="-122"/>
                <a:cs typeface="IBM Plex Sans" pitchFamily="34" charset="-120"/>
              </a:rPr>
              <a:t/>
            </a:r>
            <a:r>
              <a:rPr lang="en-US" sz="1400" dirty="0">
                <a:solidFill>
                  <a:srgbClr val="3E4A5C"/>
                </a:solidFill>
                <a:latin typeface="IBM Plex Sans" pitchFamily="34" charset="0"/>
                <a:ea typeface="IBM Plex Sans" pitchFamily="34" charset="-122"/>
                <a:cs typeface="IBM Plex Sans" pitchFamily="34" charset="-120"/>
              </a:rPr>
              <a:t/>
            </a:r>
            <a:endParaRPr lang="en-US" sz="1400" dirty="0"/>
          </a:p>
        </p:txBody>
      </p:sp>
      <p:sp>
        <p:nvSpPr>
          <p:cNvPr id="25"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Sources: draft §1, results/sequence_audit_davis.md, results/certification/step3_leak.txt</a:t>
            </a:r>
            <a:endParaRPr lang="en-US" sz="1200" dirty="0"/>
          </a:p>
        </p:txBody>
      </p:sp>
      <p:sp>
        <p:nvSpPr>
          <p:cNvPr id="26"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A1A"/>
                </a:solidFill>
                <a:latin typeface="IBM Plex Sans" pitchFamily="34" charset="0"/>
                <a:ea typeface="IBM Plex Sans" pitchFamily="34" charset="-122"/>
                <a:cs typeface="IBM Plex Sans" pitchFamily="34" charset="-120"/>
              </a:rPr>
              <a:t>WHAT WE TESTED</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Source Serif 4" pitchFamily="34" charset="0"/>
                <a:ea typeface="Source Serif 4" pitchFamily="34" charset="-122"/>
                <a:cs typeface="Source Serif 4" pitchFamily="34" charset="-120"/>
              </a:rPr>
              <a:t>Five models, one set of rules</a:t>
            </a:r>
            <a:endParaRPr lang="en-US" sz="3000" dirty="0"/>
          </a:p>
        </p:txBody>
      </p:sp>
      <p:sp>
        <p:nvSpPr>
          <p:cNvPr id="4" name="Shape 2"/>
          <p:cNvSpPr/>
          <p:nvPr/>
        </p:nvSpPr>
        <p:spPr>
          <a:xfrm>
            <a:off x="812800" y="1750020"/>
            <a:ext cx="5715000" cy="3099495"/>
          </a:xfrm>
          <a:prstGeom prst="rect">
            <a:avLst/>
          </a:prstGeom>
          <a:solidFill>
            <a:srgbClr val="FFFEFB"/>
          </a:solidFill>
          <a:ln/>
        </p:spPr>
      </p:sp>
      <p:sp>
        <p:nvSpPr>
          <p:cNvPr id="5" name="Shape 3"/>
          <p:cNvSpPr/>
          <p:nvPr/>
        </p:nvSpPr>
        <p:spPr>
          <a:xfrm>
            <a:off x="6524625" y="1750020"/>
            <a:ext cx="0" cy="3099495"/>
          </a:xfrm>
          <a:prstGeom prst="line">
            <a:avLst/>
          </a:prstGeom>
          <a:noFill/>
          <a:ln w="6350">
            <a:solidFill>
              <a:srgbClr val="DDE1E6"/>
            </a:solidFill>
            <a:prstDash val="solid"/>
          </a:ln>
        </p:spPr>
      </p:sp>
      <p:sp>
        <p:nvSpPr>
          <p:cNvPr id="6" name="Shape 4"/>
          <p:cNvSpPr/>
          <p:nvPr/>
        </p:nvSpPr>
        <p:spPr>
          <a:xfrm>
            <a:off x="812800" y="4846340"/>
            <a:ext cx="5715000" cy="0"/>
          </a:xfrm>
          <a:prstGeom prst="line">
            <a:avLst/>
          </a:prstGeom>
          <a:noFill/>
          <a:ln w="6350">
            <a:solidFill>
              <a:srgbClr val="DDE1E6"/>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762720"/>
          <a:ext cx="5695950" cy="3080445"/>
        </p:xfrm>
        <a:graphic>
          <a:graphicData uri="http://schemas.openxmlformats.org/drawingml/2006/table">
            <a:tbl>
              <a:tblPr/>
              <a:tblGrid>
                <a:gridCol w="1993583"/>
                <a:gridCol w="626555"/>
                <a:gridCol w="1765745"/>
                <a:gridCol w="1310069"/>
              </a:tblGrid>
              <a:tr h="590451">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Year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Attention scored?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59045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DeepDTA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2018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Accuracy anchor (the baseline)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No: no attention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MolTrans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2021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Published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HyperAttentionDTI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2022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Published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59045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DrugBAN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2023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Published model, DAVIS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590451">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XAttn-Ref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4BDB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BDB6"/>
                      </a:solidFill>
                      <a:prstDash val="solid"/>
                      <a:round/>
                      <a:headEnd type="none" w="med" len="med"/>
                      <a:tailEnd type="none" w="med" len="med"/>
                    </a:lnB>
                    <a:solidFill>
                      <a:srgbClr val="F6EDE4"/>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ours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DB6"/>
                      </a:solidFill>
                      <a:prstDash val="solid"/>
                      <a:round/>
                      <a:headEnd type="none" w="med" len="med"/>
                      <a:tailEnd type="none" w="med" len="med"/>
                    </a:lnL>
                    <a:lnR w="12700" cap="flat" cmpd="sng" algn="ctr">
                      <a:solidFill>
                        <a:srgbClr val="C4BDB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BDB6"/>
                      </a:solidFill>
                      <a:prstDash val="solid"/>
                      <a:round/>
                      <a:headEnd type="none" w="med" len="med"/>
                      <a:tailEnd type="none" w="med" len="med"/>
                    </a:lnB>
                    <a:solidFill>
                      <a:srgbClr val="F6EDE4"/>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In-house reference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DB6"/>
                      </a:solidFill>
                      <a:prstDash val="solid"/>
                      <a:round/>
                      <a:headEnd type="none" w="med" len="med"/>
                      <a:tailEnd type="none" w="med" len="med"/>
                    </a:lnL>
                    <a:lnR w="12700" cap="flat" cmpd="sng" algn="ctr">
                      <a:solidFill>
                        <a:srgbClr val="C4BDB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BDB6"/>
                      </a:solidFill>
                      <a:prstDash val="solid"/>
                      <a:round/>
                      <a:headEnd type="none" w="med" len="med"/>
                      <a:tailEnd type="none" w="med" len="med"/>
                    </a:lnB>
                    <a:solidFill>
                      <a:srgbClr val="F6EDE4"/>
                    </a:solidFill>
                  </a:tcPr>
                </a:tc>
                <a:tc>
                  <a:txBody>
                    <a:bodyPr/>
                    <a:lstStyle/>
                    <a:p>
                      <a:pPr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Yes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DB6"/>
                      </a:solidFill>
                      <a:prstDash val="solid"/>
                      <a:round/>
                      <a:headEnd type="none" w="med" len="med"/>
                      <a:tailEnd type="none" w="med" len="med"/>
                    </a:lnL>
                    <a:lnR w="12700" cap="flat" cmpd="sng" algn="ctr">
                      <a:solidFill>
                        <a:srgbClr val="C4BDB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BDB6"/>
                      </a:solidFill>
                      <a:prstDash val="solid"/>
                      <a:round/>
                      <a:headEnd type="none" w="med" len="med"/>
                      <a:tailEnd type="none" w="med" len="med"/>
                    </a:lnB>
                    <a:solidFill>
                      <a:srgbClr val="F6EDE4"/>
                    </a:solidFill>
                  </a:tcPr>
                </a:tc>
              </a:tr>
            </a:tbl>
          </a:graphicData>
        </a:graphic>
      </p:graphicFrame>
      <p:sp>
        <p:nvSpPr>
          <p:cNvPr id="8" name="Text 5"/>
          <p:cNvSpPr/>
          <p:nvPr/>
        </p:nvSpPr>
        <p:spPr>
          <a:xfrm>
            <a:off x="812800" y="5001915"/>
            <a:ext cx="58864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Each published model uses its authors' own code and training settings. Only the data loading was replaced.</a:t>
            </a:r>
            <a:endParaRPr lang="en-US" sz="1300" dirty="0"/>
          </a:p>
        </p:txBody>
      </p:sp>
      <p:sp>
        <p:nvSpPr>
          <p:cNvPr id="9" name="Shape 6"/>
          <p:cNvSpPr/>
          <p:nvPr/>
        </p:nvSpPr>
        <p:spPr>
          <a:xfrm>
            <a:off x="6835775" y="1753195"/>
            <a:ext cx="4540250" cy="2070100"/>
          </a:xfrm>
          <a:prstGeom prst="roundRect">
            <a:avLst>
              <a:gd name="adj" fmla="val 3528"/>
            </a:avLst>
          </a:prstGeom>
          <a:solidFill>
            <a:srgbClr val="FFFEFB"/>
          </a:solidFill>
          <a:ln w="6350">
            <a:solidFill>
              <a:srgbClr val="DDE1E6"/>
            </a:solidFill>
            <a:prstDash val="solid"/>
          </a:ln>
        </p:spPr>
      </p:sp>
      <p:pic>
        <p:nvPicPr>
          <p:cNvPr id="10" name="Image 0" descr="Figure 3: test AUROC of every model, level and seed on DAVIS and KIBA">    </p:cNvPr>
          <p:cNvPicPr>
            <a:picLocks noChangeAspect="1"/>
          </p:cNvPicPr>
          <p:nvPr/>
        </p:nvPicPr>
        <p:blipFill>
          <a:blip r:embed="rId1"/>
          <a:srcRect l="0" r="0" t="-117" b="-117"/>
          <a:stretch/>
        </p:blipFill>
        <p:spPr>
          <a:xfrm>
            <a:off x="6915150" y="1832570"/>
            <a:ext cx="4394200" cy="1911350"/>
          </a:xfrm>
          <a:prstGeom prst="rect">
            <a:avLst/>
          </a:prstGeom>
        </p:spPr>
      </p:pic>
      <p:sp>
        <p:nvSpPr>
          <p:cNvPr id="11" name="Text 7"/>
          <p:cNvSpPr/>
          <p:nvPr/>
        </p:nvSpPr>
        <p:spPr>
          <a:xfrm>
            <a:off x="6832600" y="3928070"/>
            <a:ext cx="4682998"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4A5C"/>
                </a:solidFill>
                <a:latin typeface="IBM Plex Sans" pitchFamily="34" charset="0"/>
                <a:ea typeface="IBM Plex Sans" pitchFamily="34" charset="-122"/>
                <a:cs typeface="IBM Plex Sans" pitchFamily="34" charset="-120"/>
              </a:rPr>
              <a:t>Figure 3 · They trained properly.</a:t>
            </a:r>
            <a:r>
              <a:rPr lang="en-US" sz="1300" dirty="0">
                <a:solidFill>
                  <a:srgbClr val="3E4A5C"/>
                </a:solidFill>
                <a:latin typeface="IBM Plex Sans" pitchFamily="34" charset="0"/>
                <a:ea typeface="IBM Plex Sans" pitchFamily="34" charset="-122"/>
                <a:cs typeface="IBM Plex Sans" pitchFamily="34" charset="-120"/>
              </a:rPr>
              <a:t> On DAVIS random, all five reach test AUROC 0.891–0.937.</a:t>
            </a:r>
            <a:endParaRPr lang="en-US" sz="1300" dirty="0"/>
          </a:p>
        </p:txBody>
      </p:sp>
      <p:sp>
        <p:nvSpPr>
          <p:cNvPr id="12"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Sources: draft §2.2, Table 1, results/accuracy_v2/by_model.csv</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A1A"/>
                </a:solidFill>
                <a:latin typeface="IBM Plex Sans" pitchFamily="34" charset="0"/>
                <a:ea typeface="IBM Plex Sans" pitchFamily="34" charset="-122"/>
                <a:cs typeface="IBM Plex Sans" pitchFamily="34" charset="-120"/>
              </a:rPr>
              <a:t>OUR NOVELTY</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Source Serif 4" pitchFamily="34" charset="0"/>
                <a:ea typeface="Source Serif 4" pitchFamily="34" charset="-122"/>
                <a:cs typeface="Source Serif 4" pitchFamily="34" charset="-120"/>
              </a:rPr>
              <a:t>The novelty is the method, not a new model</a:t>
            </a:r>
            <a:endParaRPr lang="en-US" sz="3000" dirty="0"/>
          </a:p>
        </p:txBody>
      </p:sp>
      <p:sp>
        <p:nvSpPr>
          <p:cNvPr id="4" name="Shape 2"/>
          <p:cNvSpPr/>
          <p:nvPr/>
        </p:nvSpPr>
        <p:spPr>
          <a:xfrm>
            <a:off x="812800" y="1750020"/>
            <a:ext cx="10566400" cy="904230"/>
          </a:xfrm>
          <a:prstGeom prst="roundRect">
            <a:avLst>
              <a:gd name="adj" fmla="val 11236"/>
            </a:avLst>
          </a:prstGeom>
          <a:solidFill>
            <a:srgbClr val="14213D"/>
          </a:solidFill>
          <a:ln/>
        </p:spPr>
      </p:sp>
      <p:sp>
        <p:nvSpPr>
          <p:cNvPr id="5" name="Text 3"/>
          <p:cNvSpPr/>
          <p:nvPr/>
        </p:nvSpPr>
        <p:spPr>
          <a:xfrm>
            <a:off x="1117600" y="2004020"/>
            <a:ext cx="10255504" cy="42163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3EFE6"/>
                </a:solidFill>
                <a:latin typeface="Source Serif 4" pitchFamily="34" charset="0"/>
                <a:ea typeface="Source Serif 4" pitchFamily="34" charset="-122"/>
                <a:cs typeface="Source Serif 4" pitchFamily="34" charset="-120"/>
              </a:rPr>
              <a:t>Same recipe, same data, different seed → </a:t>
            </a:r>
            <a:r>
              <a:rPr lang="en-US" sz="2600" b="1" dirty="0">
                <a:solidFill>
                  <a:srgbClr val="F08A4B"/>
                </a:solidFill>
                <a:latin typeface="Source Serif 4" pitchFamily="34" charset="0"/>
                <a:ea typeface="Source Serif 4" pitchFamily="34" charset="-122"/>
                <a:cs typeface="Source Serif 4" pitchFamily="34" charset="-120"/>
              </a:rPr>
              <a:t>different verdict.</a:t>
            </a:r>
            <a:endParaRPr lang="en-US" sz="2600" dirty="0"/>
          </a:p>
        </p:txBody>
      </p:sp>
      <p:sp>
        <p:nvSpPr>
          <p:cNvPr id="6" name="Shape 4"/>
          <p:cNvSpPr/>
          <p:nvPr/>
        </p:nvSpPr>
        <p:spPr>
          <a:xfrm>
            <a:off x="819150" y="2914600"/>
            <a:ext cx="4239270" cy="2110581"/>
          </a:xfrm>
          <a:prstGeom prst="roundRect">
            <a:avLst>
              <a:gd name="adj" fmla="val 4513"/>
            </a:avLst>
          </a:prstGeom>
          <a:solidFill>
            <a:srgbClr val="F7F8FA"/>
          </a:solidFill>
          <a:ln w="12700">
            <a:solidFill>
              <a:srgbClr val="9AA3AF"/>
            </a:solidFill>
            <a:prstDash val="dash"/>
          </a:ln>
        </p:spPr>
      </p:sp>
      <p:sp>
        <p:nvSpPr>
          <p:cNvPr id="7" name="Text 5"/>
          <p:cNvSpPr/>
          <p:nvPr/>
        </p:nvSpPr>
        <p:spPr>
          <a:xfrm>
            <a:off x="1079500" y="3174950"/>
            <a:ext cx="383012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B5563"/>
                </a:solidFill>
                <a:latin typeface="IBM Plex Sans" pitchFamily="34" charset="0"/>
                <a:ea typeface="IBM Plex Sans" pitchFamily="34" charset="-122"/>
                <a:cs typeface="IBM Plex Sans" pitchFamily="34" charset="-120"/>
              </a:rPr>
              <a:t>Already done by others</a:t>
            </a:r>
            <a:endParaRPr lang="en-US" sz="1600" dirty="0"/>
          </a:p>
        </p:txBody>
      </p:sp>
      <p:sp>
        <p:nvSpPr>
          <p:cNvPr id="8" name="Text 6"/>
          <p:cNvSpPr/>
          <p:nvPr/>
        </p:nvSpPr>
        <p:spPr>
          <a:xfrm>
            <a:off x="1079500" y="3520380"/>
            <a:ext cx="38301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Comparing attention maps with binding sites.</a:t>
            </a:r>
            <a:endParaRPr lang="en-US" sz="1400" dirty="0"/>
          </a:p>
        </p:txBody>
      </p:sp>
      <p:sp>
        <p:nvSpPr>
          <p:cNvPr id="9" name="Text 7"/>
          <p:cNvSpPr/>
          <p:nvPr/>
        </p:nvSpPr>
        <p:spPr>
          <a:xfrm>
            <a:off x="1079500" y="3870871"/>
            <a:ext cx="383012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IBM Plex Sans" pitchFamily="34" charset="0"/>
                <a:ea typeface="IBM Plex Sans" pitchFamily="34" charset="-122"/>
                <a:cs typeface="IBM Plex Sans" pitchFamily="34" charset="-120"/>
              </a:rPr>
              <a:t>MONN (2020) · ICAN (2022) · InteractBind (2026, preprint)</a:t>
            </a:r>
            <a:endParaRPr lang="en-US" sz="1300" dirty="0"/>
          </a:p>
        </p:txBody>
      </p:sp>
      <p:sp>
        <p:nvSpPr>
          <p:cNvPr id="10" name="Shape 8"/>
          <p:cNvSpPr/>
          <p:nvPr/>
        </p:nvSpPr>
        <p:spPr>
          <a:xfrm>
            <a:off x="5274320" y="2914600"/>
            <a:ext cx="6098530" cy="2110581"/>
          </a:xfrm>
          <a:prstGeom prst="roundRect">
            <a:avLst>
              <a:gd name="adj" fmla="val 4513"/>
            </a:avLst>
          </a:prstGeom>
          <a:solidFill>
            <a:srgbClr val="FFFEFB"/>
          </a:solidFill>
          <a:ln w="12700">
            <a:solidFill>
              <a:srgbClr val="2B5F9E"/>
            </a:solidFill>
            <a:prstDash val="solid"/>
          </a:ln>
        </p:spPr>
      </p:sp>
      <p:sp>
        <p:nvSpPr>
          <p:cNvPr id="11" name="Text 9"/>
          <p:cNvSpPr/>
          <p:nvPr/>
        </p:nvSpPr>
        <p:spPr>
          <a:xfrm>
            <a:off x="5534670" y="3174950"/>
            <a:ext cx="574516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5F9E"/>
                </a:solidFill>
                <a:latin typeface="IBM Plex Sans" pitchFamily="34" charset="0"/>
                <a:ea typeface="IBM Plex Sans" pitchFamily="34" charset="-122"/>
                <a:cs typeface="IBM Plex Sans" pitchFamily="34" charset="-120"/>
              </a:rPr>
              <a:t>What we add</a:t>
            </a:r>
            <a:endParaRPr lang="en-US" sz="1600" dirty="0"/>
          </a:p>
        </p:txBody>
      </p:sp>
      <p:sp>
        <p:nvSpPr>
          <p:cNvPr id="12" name="Text 10"/>
          <p:cNvSpPr/>
          <p:nvPr/>
        </p:nvSpPr>
        <p:spPr>
          <a:xfrm>
            <a:off x="5534670" y="3520380"/>
            <a:ext cx="5745165" cy="1269851"/>
          </a:xfrm>
          <a:prstGeom prst="rect">
            <a:avLst/>
          </a:prstGeom>
          <a:noFill/>
          <a:ln/>
        </p:spPr>
        <p:txBody>
          <a:bodyPr wrap="square" lIns="0" tIns="0" rIns="0" bIns="0" rtlCol="0" anchor="t">
            <a:normAutofit/>
          </a:bodyPr>
          <a:lstStyle/>
          <a:p>
            <a:pPr algn="l" marL="213360" indent="-213360">
              <a:lnSpc>
                <a:spcPts val="196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The verdict changes when only the random seed changes</a:t>
            </a:r>
            <a:endParaRPr lang="en-US" sz="1400" dirty="0"/>
          </a:p>
          <a:p>
            <a:pPr algn="l" marL="213360" indent="-213360">
              <a:lnSpc>
                <a:spcPts val="196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A calibrated test battery: chance, ceiling, flat-map floor, positive control, nulls, Holm correction</a:t>
            </a:r>
            <a:endParaRPr lang="en-US" sz="1400" dirty="0"/>
          </a:p>
          <a:p>
            <a:pPr algn="l" marL="213360" indent="-213360">
              <a:lnSpc>
                <a:spcPts val="196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The verdict depends on an unstated readout choice</a:t>
            </a:r>
            <a:endParaRPr lang="en-US" sz="1400" dirty="0"/>
          </a:p>
          <a:p>
            <a:pPr algn="l" marL="213360" indent="-213360">
              <a:lnSpc>
                <a:spcPts val="196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The DAVIS leak, measured, not just reported</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Sources: draft §1 (contributions a–d), §4.2</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A1A"/>
                </a:solidFill>
                <a:latin typeface="IBM Plex Sans" pitchFamily="34" charset="0"/>
                <a:ea typeface="IBM Plex Sans" pitchFamily="34" charset="-122"/>
                <a:cs typeface="IBM Plex Sans" pitchFamily="34" charset="-120"/>
              </a:rPr>
              <a:t>HARD RESULT 1 · THE DISAGREEMENT</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Source Serif 4" pitchFamily="34" charset="0"/>
                <a:ea typeface="Source Serif 4" pitchFamily="34" charset="-122"/>
                <a:cs typeface="Source Serif 4" pitchFamily="34" charset="-120"/>
              </a:rPr>
              <a:t>Three seeds, three verdicts</a:t>
            </a:r>
            <a:endParaRPr lang="en-US" sz="3000" dirty="0"/>
          </a:p>
        </p:txBody>
      </p:sp>
      <p:sp>
        <p:nvSpPr>
          <p:cNvPr id="4" name="Text 2"/>
          <p:cNvSpPr/>
          <p:nvPr/>
        </p:nvSpPr>
        <p:spPr>
          <a:xfrm>
            <a:off x="812800" y="1750020"/>
            <a:ext cx="4185920" cy="939800"/>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B04A1A"/>
                </a:solidFill>
                <a:latin typeface="Source Serif 4" pitchFamily="34" charset="0"/>
                <a:ea typeface="Source Serif 4" pitchFamily="34" charset="-122"/>
                <a:cs typeface="Source Serif 4" pitchFamily="34" charset="-120"/>
              </a:rPr>
              <a:t>11 of 22</a:t>
            </a:r>
            <a:endParaRPr lang="en-US" sz="7200" dirty="0"/>
          </a:p>
        </p:txBody>
      </p:sp>
      <p:sp>
        <p:nvSpPr>
          <p:cNvPr id="5" name="Text 3"/>
          <p:cNvSpPr/>
          <p:nvPr/>
        </p:nvSpPr>
        <p:spPr>
          <a:xfrm>
            <a:off x="812800" y="2715220"/>
            <a:ext cx="418592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4213D"/>
                </a:solidFill>
                <a:latin typeface="IBM Plex Sans" pitchFamily="34" charset="0"/>
                <a:ea typeface="IBM Plex Sans" pitchFamily="34" charset="-122"/>
                <a:cs typeface="IBM Plex Sans" pitchFamily="34" charset="-120"/>
              </a:rPr>
              <a:t>cells where the three seeds fall on different sides of the α = 0.05 line</a:t>
            </a:r>
            <a:endParaRPr lang="en-US" sz="1600" dirty="0"/>
          </a:p>
        </p:txBody>
      </p:sp>
      <p:sp>
        <p:nvSpPr>
          <p:cNvPr id="6" name="Shape 4"/>
          <p:cNvSpPr/>
          <p:nvPr/>
        </p:nvSpPr>
        <p:spPr>
          <a:xfrm>
            <a:off x="812800" y="3395861"/>
            <a:ext cx="4064000" cy="1117501"/>
          </a:xfrm>
          <a:prstGeom prst="roundRect">
            <a:avLst>
              <a:gd name="adj" fmla="val 4546"/>
            </a:avLst>
          </a:prstGeom>
          <a:solidFill>
            <a:srgbClr val="FFFEFB"/>
          </a:solidFill>
          <a:ln/>
        </p:spPr>
      </p:sp>
      <p:sp>
        <p:nvSpPr>
          <p:cNvPr id="7" name="Shape 5"/>
          <p:cNvSpPr/>
          <p:nvPr/>
        </p:nvSpPr>
        <p:spPr>
          <a:xfrm>
            <a:off x="812800" y="3395861"/>
            <a:ext cx="4064000" cy="1117501"/>
          </a:xfrm>
          <a:custGeom>
            <a:avLst/>
            <a:gdLst/>
            <a:ahLst/>
            <a:cxnLst/>
            <a:rect l="l" t="t" r="r" b="b"/>
            <a:pathLst>
              <a:path w="4064000" h="1117501">
                <a:moveTo>
                  <a:pt x="50800" y="1117501"/>
                </a:moveTo>
                <a:lnTo>
                  <a:pt x="50800" y="1117501"/>
                </a:lnTo>
                <a:arcTo hR="50800" wR="50800" stAng="5400000" swAng="5400000"/>
                <a:lnTo>
                  <a:pt x="0" y="50800"/>
                </a:lnTo>
                <a:arcTo hR="50800" wR="50800" stAng="10800000" swAng="5400000"/>
                <a:lnTo>
                  <a:pt x="50800" y="0"/>
                </a:lnTo>
                <a:arcTo hR="50800" wR="12700" stAng="16200000" swAng="-5400000"/>
                <a:lnTo>
                  <a:pt x="38100" y="1066701"/>
                </a:lnTo>
                <a:arcTo hR="50800" wR="12700" stAng="10800000" swAng="-5400000"/>
                <a:close/>
              </a:path>
            </a:pathLst>
          </a:custGeom>
          <a:solidFill>
            <a:srgbClr val="2B5F9E"/>
          </a:solidFill>
          <a:ln/>
        </p:spPr>
      </p:sp>
      <p:sp>
        <p:nvSpPr>
          <p:cNvPr id="8" name="Text 6"/>
          <p:cNvSpPr/>
          <p:nvPr/>
        </p:nvSpPr>
        <p:spPr>
          <a:xfrm>
            <a:off x="1054100" y="3548261"/>
            <a:ext cx="3728085"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F9E"/>
                </a:solidFill>
                <a:latin typeface="IBM Plex Sans" pitchFamily="34" charset="0"/>
                <a:ea typeface="IBM Plex Sans" pitchFamily="34" charset="-122"/>
                <a:cs typeface="IBM Plex Sans" pitchFamily="34" charset="-120"/>
              </a:rPr>
              <a:t>HYPERATTENTIONDTI · DAVIS COLD-DRUG</a:t>
            </a:r>
            <a:endParaRPr lang="en-US" sz="1200" dirty="0"/>
          </a:p>
        </p:txBody>
      </p:sp>
      <p:sp>
        <p:nvSpPr>
          <p:cNvPr id="9" name="Text 7"/>
          <p:cNvSpPr/>
          <p:nvPr/>
        </p:nvSpPr>
        <p:spPr>
          <a:xfrm>
            <a:off x="1054100" y="3812381"/>
            <a:ext cx="372808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Seeds: </a:t>
            </a:r>
            <a:r>
              <a:rPr lang="en-US" sz="1400" b="1" dirty="0">
                <a:solidFill>
                  <a:srgbClr val="3E4A5C"/>
                </a:solidFill>
                <a:latin typeface="IBM Plex Sans" pitchFamily="34" charset="0"/>
                <a:ea typeface="IBM Plex Sans" pitchFamily="34" charset="-122"/>
                <a:cs typeface="IBM Plex Sans" pitchFamily="34" charset="-120"/>
              </a:rPr>
              <a:t>0.025 · 0.077 · 0.019</a:t>
            </a:r>
            <a:endParaRPr lang="en-US" sz="1400" dirty="0"/>
          </a:p>
        </p:txBody>
      </p:sp>
      <p:sp>
        <p:nvSpPr>
          <p:cNvPr id="10" name="Text 8"/>
          <p:cNvSpPr/>
          <p:nvPr/>
        </p:nvSpPr>
        <p:spPr>
          <a:xfrm>
            <a:off x="1054100" y="4112071"/>
            <a:ext cx="372808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Chance: 0.020 · best run ≈ 4× the worst</a:t>
            </a:r>
            <a:endParaRPr lang="en-US" sz="1400" dirty="0"/>
          </a:p>
        </p:txBody>
      </p:sp>
      <p:sp>
        <p:nvSpPr>
          <p:cNvPr id="11" name="Text 9"/>
          <p:cNvSpPr/>
          <p:nvPr/>
        </p:nvSpPr>
        <p:spPr>
          <a:xfrm>
            <a:off x="812800" y="4665762"/>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All three seeds pass in 1 of 22 cells. None pass in 10 of 22.</a:t>
            </a:r>
            <a:endParaRPr lang="en-US" sz="1300" dirty="0"/>
          </a:p>
        </p:txBody>
      </p:sp>
      <p:sp>
        <p:nvSpPr>
          <p:cNvPr id="17" name="Seed variance line"/>
          <p:cNvSpPr/>
          <p:nvPr/>
        </p:nvSpPr>
        <p:spPr>
          <a:xfrm>
            <a:off x="812800" y="5212080"/>
            <a:ext cx="4185920" cy="9144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The seeds' spread exceeds the distance from chance in 21 of 22 cells. Tested directly, seed variance is significant in 7 to 8 of 22 cells after Holm.</a:t>
            </a:r>
            <a:endParaRPr lang="en-US" sz="1300" dirty="0"/>
          </a:p>
        </p:txBody>
      </p:sp>
      <p:sp>
        <p:nvSpPr>
          <p:cNvPr id="12" name="Shape 10"/>
          <p:cNvSpPr/>
          <p:nvPr/>
        </p:nvSpPr>
        <p:spPr>
          <a:xfrm>
            <a:off x="5184775" y="1753195"/>
            <a:ext cx="6191250" cy="3270250"/>
          </a:xfrm>
          <a:prstGeom prst="roundRect">
            <a:avLst>
              <a:gd name="adj" fmla="val 2233"/>
            </a:avLst>
          </a:prstGeom>
          <a:solidFill>
            <a:srgbClr val="FFFEFB"/>
          </a:solidFill>
          <a:ln w="6350">
            <a:solidFill>
              <a:srgbClr val="DDE1E6"/>
            </a:solidFill>
            <a:prstDash val="solid"/>
          </a:ln>
        </p:spPr>
      </p:sp>
      <p:pic>
        <p:nvPicPr>
          <p:cNvPr id="13" name="Image 0" descr="Figure 1: precision@10 of each training seed on DAVIS at four levels, against UniProt residues and the KLIFS pocket, with the chance level marked">    </p:cNvPr>
          <p:cNvPicPr>
            <a:picLocks noChangeAspect="1"/>
          </p:cNvPicPr>
          <p:nvPr/>
        </p:nvPicPr>
        <p:blipFill>
          <a:blip r:embed="rId1"/>
          <a:srcRect l="-2314" r="-2314" t="0" b="0"/>
          <a:stretch/>
        </p:blipFill>
        <p:spPr>
          <a:xfrm>
            <a:off x="5264150" y="1832570"/>
            <a:ext cx="5715000" cy="3111500"/>
          </a:xfrm>
          <a:prstGeom prst="rect">
            <a:avLst/>
          </a:prstGeom>
        </p:spPr>
      </p:pic>
      <p:sp>
        <p:nvSpPr>
          <p:cNvPr id="14" name="Text 11"/>
          <p:cNvSpPr/>
          <p:nvPr/>
        </p:nvSpPr>
        <p:spPr>
          <a:xfrm>
            <a:off x="5181600" y="5102820"/>
            <a:ext cx="63835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Figure 1 · precision@10 per seed (points) vs chance (dashed). DAVIS holds 8 of the 11 disagreeing cells; the other 3 are KIBA.</a:t>
            </a:r>
            <a:endParaRPr lang="en-US" sz="12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 results/certification/step1_disagreement.txt (exact per-seed p, α = 0.05)</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A1A"/>
                </a:solidFill>
                <a:latin typeface="IBM Plex Sans" pitchFamily="34" charset="0"/>
                <a:ea typeface="IBM Plex Sans" pitchFamily="34" charset="-122"/>
                <a:cs typeface="IBM Plex Sans" pitchFamily="34" charset="-120"/>
              </a:rPr>
              <a:t>HARD RESULT 2 · THE TWO-WAY BOOTSTRAP</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Source Serif 4" pitchFamily="34" charset="0"/>
                <a:ea typeface="Source Serif 4" pitchFamily="34" charset="-122"/>
                <a:cs typeface="Source Serif 4" pitchFamily="34" charset="-120"/>
              </a:rPr>
              <a:t>Counting seed variance shrinks the claims</a:t>
            </a:r>
            <a:endParaRPr lang="en-US" sz="3000" dirty="0"/>
          </a:p>
        </p:txBody>
      </p:sp>
      <p:sp>
        <p:nvSpPr>
          <p:cNvPr id="4" name="Text 2"/>
          <p:cNvSpPr/>
          <p:nvPr/>
        </p:nvSpPr>
        <p:spPr>
          <a:xfrm>
            <a:off x="812800" y="1750020"/>
            <a:ext cx="599109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The usual bootstrap resamples </a:t>
            </a:r>
            <a:r>
              <a:rPr lang="en-US" sz="1400" b="1" dirty="0">
                <a:solidFill>
                  <a:srgbClr val="3E4A5C"/>
                </a:solidFill>
                <a:latin typeface="IBM Plex Sans" pitchFamily="34" charset="0"/>
                <a:ea typeface="IBM Plex Sans" pitchFamily="34" charset="-122"/>
                <a:cs typeface="IBM Plex Sans" pitchFamily="34" charset="-120"/>
              </a:rPr>
              <a:t>proteins only</a:t>
            </a:r>
            <a:r>
              <a:rPr lang="en-US" sz="1400" dirty="0">
                <a:solidFill>
                  <a:srgbClr val="3E4A5C"/>
                </a:solidFill>
                <a:latin typeface="IBM Plex Sans" pitchFamily="34" charset="0"/>
                <a:ea typeface="IBM Plex Sans" pitchFamily="34" charset="-122"/>
                <a:cs typeface="IBM Plex Sans" pitchFamily="34" charset="-120"/>
              </a:rPr>
              <a:t>. Ours resamples </a:t>
            </a:r>
            <a:r>
              <a:rPr lang="en-US" sz="1400" b="1" dirty="0">
                <a:solidFill>
                  <a:srgbClr val="3E4A5C"/>
                </a:solidFill>
                <a:latin typeface="IBM Plex Sans" pitchFamily="34" charset="0"/>
                <a:ea typeface="IBM Plex Sans" pitchFamily="34" charset="-122"/>
                <a:cs typeface="IBM Plex Sans" pitchFamily="34" charset="-120"/>
              </a:rPr>
              <a:t>proteins and seeds</a:t>
            </a:r>
            <a:r>
              <a:rPr lang="en-US" sz="1400" dirty="0">
                <a:solidFill>
                  <a:srgbClr val="3E4A5C"/>
                </a:solidFill>
                <a:latin typeface="IBM Plex Sans" pitchFamily="34" charset="0"/>
                <a:ea typeface="IBM Plex Sans" pitchFamily="34" charset="-122"/>
                <a:cs typeface="IBM Plex Sans" pitchFamily="34" charset="-120"/>
              </a:rPr>
              <a:t>.</a:t>
            </a:r>
            <a:endParaRPr lang="en-US" sz="1400" dirty="0"/>
          </a:p>
        </p:txBody>
      </p:sp>
      <p:sp>
        <p:nvSpPr>
          <p:cNvPr id="5" name="Shape 3"/>
          <p:cNvSpPr/>
          <p:nvPr/>
        </p:nvSpPr>
        <p:spPr>
          <a:xfrm>
            <a:off x="812800" y="2400201"/>
            <a:ext cx="5816600" cy="1168301"/>
          </a:xfrm>
          <a:prstGeom prst="roundRect">
            <a:avLst>
              <a:gd name="adj" fmla="val 4348"/>
            </a:avLst>
          </a:prstGeom>
          <a:solidFill>
            <a:srgbClr val="FFFEFB"/>
          </a:solidFill>
          <a:ln/>
        </p:spPr>
      </p:sp>
      <p:sp>
        <p:nvSpPr>
          <p:cNvPr id="6" name="Shape 4"/>
          <p:cNvSpPr/>
          <p:nvPr/>
        </p:nvSpPr>
        <p:spPr>
          <a:xfrm>
            <a:off x="812800" y="2400201"/>
            <a:ext cx="5816600" cy="1168301"/>
          </a:xfrm>
          <a:custGeom>
            <a:avLst/>
            <a:gdLst/>
            <a:ahLst/>
            <a:cxnLst/>
            <a:rect l="l" t="t" r="r" b="b"/>
            <a:pathLst>
              <a:path w="5816600" h="1168301">
                <a:moveTo>
                  <a:pt x="50800" y="1168301"/>
                </a:moveTo>
                <a:lnTo>
                  <a:pt x="50800" y="1168301"/>
                </a:lnTo>
                <a:arcTo hR="50800" wR="50800" stAng="5400000" swAng="5400000"/>
                <a:lnTo>
                  <a:pt x="0" y="50800"/>
                </a:lnTo>
                <a:arcTo hR="50800" wR="50800" stAng="10800000" swAng="5400000"/>
                <a:lnTo>
                  <a:pt x="50800" y="0"/>
                </a:lnTo>
                <a:arcTo hR="50800" wR="12700" stAng="16200000" swAng="-5400000"/>
                <a:lnTo>
                  <a:pt x="38100" y="1117501"/>
                </a:lnTo>
                <a:arcTo hR="50800" wR="12700" stAng="10800000" swAng="-5400000"/>
                <a:close/>
              </a:path>
            </a:pathLst>
          </a:custGeom>
          <a:solidFill>
            <a:srgbClr val="2B5F9E"/>
          </a:solidFill>
          <a:ln/>
        </p:spPr>
      </p:sp>
      <p:sp>
        <p:nvSpPr>
          <p:cNvPr id="7" name="Text 5"/>
          <p:cNvSpPr/>
          <p:nvPr/>
        </p:nvSpPr>
        <p:spPr>
          <a:xfrm>
            <a:off x="1054100" y="2552601"/>
            <a:ext cx="5533263"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F9E"/>
                </a:solidFill>
                <a:latin typeface="IBM Plex Sans" pitchFamily="34" charset="0"/>
                <a:ea typeface="IBM Plex Sans" pitchFamily="34" charset="-122"/>
                <a:cs typeface="IBM Plex Sans" pitchFamily="34" charset="-120"/>
              </a:rPr>
              <a:t>HYPERATTENTIONDTI · DAVIS COLD-DRUG · ENRICHMENT</a:t>
            </a:r>
            <a:endParaRPr lang="en-US" sz="1200" dirty="0"/>
          </a:p>
        </p:txBody>
      </p:sp>
      <p:sp>
        <p:nvSpPr>
          <p:cNvPr id="8" name="Text 6"/>
          <p:cNvSpPr/>
          <p:nvPr/>
        </p:nvSpPr>
        <p:spPr>
          <a:xfrm>
            <a:off x="1054100" y="2842121"/>
            <a:ext cx="553326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Proteins only: </a:t>
            </a:r>
            <a:r>
              <a:rPr lang="en-US" sz="1400" b="1" dirty="0">
                <a:solidFill>
                  <a:srgbClr val="3E4A5C"/>
                </a:solidFill>
                <a:latin typeface="IBM Plex Sans" pitchFamily="34" charset="0"/>
                <a:ea typeface="IBM Plex Sans" pitchFamily="34" charset="-122"/>
                <a:cs typeface="IBM Plex Sans" pitchFamily="34" charset="-120"/>
              </a:rPr>
              <a:t>1.98 [1.81, 2.15]</a:t>
            </a:r>
            <a:r>
              <a:rPr lang="en-US" sz="1400" dirty="0">
                <a:solidFill>
                  <a:srgbClr val="3E4A5C"/>
                </a:solidFill>
                <a:latin typeface="IBM Plex Sans" pitchFamily="34" charset="0"/>
                <a:ea typeface="IBM Plex Sans" pitchFamily="34" charset="-122"/>
                <a:cs typeface="IBM Plex Sans" pitchFamily="34" charset="-120"/>
              </a:rPr>
              <a:t>, clear of chance</a:t>
            </a:r>
            <a:endParaRPr lang="en-US" sz="1400" dirty="0"/>
          </a:p>
        </p:txBody>
      </p:sp>
      <p:sp>
        <p:nvSpPr>
          <p:cNvPr id="9" name="Text 7"/>
          <p:cNvSpPr/>
          <p:nvPr/>
        </p:nvSpPr>
        <p:spPr>
          <a:xfrm>
            <a:off x="1054100" y="3167211"/>
            <a:ext cx="553326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Proteins + seeds: </a:t>
            </a:r>
            <a:r>
              <a:rPr lang="en-US" sz="1400" b="1" dirty="0">
                <a:solidFill>
                  <a:srgbClr val="B04A1A"/>
                </a:solidFill>
                <a:latin typeface="IBM Plex Sans" pitchFamily="34" charset="0"/>
                <a:ea typeface="IBM Plex Sans" pitchFamily="34" charset="-122"/>
                <a:cs typeface="IBM Plex Sans" pitchFamily="34" charset="-120"/>
              </a:rPr>
              <a:t>[0.94, 3.65]</a:t>
            </a:r>
            <a:r>
              <a:rPr lang="en-US" sz="1400" dirty="0">
                <a:solidFill>
                  <a:srgbClr val="3E4A5C"/>
                </a:solidFill>
                <a:latin typeface="IBM Plex Sans" pitchFamily="34" charset="0"/>
                <a:ea typeface="IBM Plex Sans" pitchFamily="34" charset="-122"/>
                <a:cs typeface="IBM Plex Sans" pitchFamily="34" charset="-120"/>
              </a:rPr>
              <a:t>, crosses chance (1.0)</a:t>
            </a:r>
            <a:endParaRPr lang="en-US" sz="1400" dirty="0"/>
          </a:p>
        </p:txBody>
      </p:sp>
      <p:sp>
        <p:nvSpPr>
          <p:cNvPr id="10" name="Shape 8"/>
          <p:cNvSpPr/>
          <p:nvPr/>
        </p:nvSpPr>
        <p:spPr>
          <a:xfrm>
            <a:off x="812800" y="3720902"/>
            <a:ext cx="5816600" cy="1177082"/>
          </a:xfrm>
          <a:prstGeom prst="rect">
            <a:avLst/>
          </a:prstGeom>
          <a:solidFill>
            <a:srgbClr val="FFFEFB"/>
          </a:solidFill>
          <a:ln/>
        </p:spPr>
      </p:sp>
      <p:sp>
        <p:nvSpPr>
          <p:cNvPr id="11" name="Shape 9"/>
          <p:cNvSpPr/>
          <p:nvPr/>
        </p:nvSpPr>
        <p:spPr>
          <a:xfrm>
            <a:off x="6626225" y="3720902"/>
            <a:ext cx="0" cy="1177082"/>
          </a:xfrm>
          <a:prstGeom prst="line">
            <a:avLst/>
          </a:prstGeom>
          <a:noFill/>
          <a:ln w="6350">
            <a:solidFill>
              <a:srgbClr val="DDE1E6"/>
            </a:solidFill>
            <a:prstDash val="solid"/>
          </a:ln>
        </p:spPr>
      </p:sp>
      <p:sp>
        <p:nvSpPr>
          <p:cNvPr id="12" name="Shape 10"/>
          <p:cNvSpPr/>
          <p:nvPr/>
        </p:nvSpPr>
        <p:spPr>
          <a:xfrm>
            <a:off x="812800" y="4894808"/>
            <a:ext cx="5816600" cy="0"/>
          </a:xfrm>
          <a:prstGeom prst="line">
            <a:avLst/>
          </a:prstGeom>
          <a:noFill/>
          <a:ln w="6350">
            <a:solidFill>
              <a:srgbClr val="DDE1E6"/>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733602"/>
          <a:ext cx="5797550" cy="1158032"/>
        </p:xfrm>
        <a:graphic>
          <a:graphicData uri="http://schemas.openxmlformats.org/drawingml/2006/table">
            <a:tbl>
              <a:tblPr/>
              <a:tblGrid>
                <a:gridCol w="2550922"/>
                <a:gridCol w="1623314"/>
                <a:gridCol w="1623314"/>
              </a:tblGrid>
              <a:tr h="386011">
                <a:tc>
                  <a:txBody>
                    <a:bodyPr/>
                    <a:lstStyle/>
                    <a:p>
                      <a:pPr indent="0" marL="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Cells above chance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Proteins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Proteins + seeds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86011">
                <a:tc>
                  <a:txBody>
                    <a:bodyPr/>
                    <a:lstStyle/>
                    <a:p>
                      <a:pP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Residue level (UniProt)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ct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7 / 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ct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1 / 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Pocket level (KLIFS)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ct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15 / 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ct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9 / 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bl>
          </a:graphicData>
        </a:graphic>
      </p:graphicFrame>
      <p:sp>
        <p:nvSpPr>
          <p:cNvPr id="14" name="Text 11"/>
          <p:cNvSpPr/>
          <p:nvPr/>
        </p:nvSpPr>
        <p:spPr>
          <a:xfrm>
            <a:off x="812800" y="5050383"/>
            <a:ext cx="59910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The one residue-level survivor, HyperAttentionDTI at DAVIS random (1.66 [1.33, 2.00]), is the same cell that passes the Holm-corrected test.</a:t>
            </a:r>
            <a:endParaRPr lang="en-US" sz="1200" dirty="0"/>
          </a:p>
        </p:txBody>
      </p:sp>
      <p:sp>
        <p:nvSpPr>
          <p:cNvPr id="15" name="Shape 12"/>
          <p:cNvSpPr/>
          <p:nvPr/>
        </p:nvSpPr>
        <p:spPr>
          <a:xfrm>
            <a:off x="6937375" y="1753195"/>
            <a:ext cx="4438650" cy="3575050"/>
          </a:xfrm>
          <a:prstGeom prst="roundRect">
            <a:avLst>
              <a:gd name="adj" fmla="val 2043"/>
            </a:avLst>
          </a:prstGeom>
          <a:solidFill>
            <a:srgbClr val="FFFEFB"/>
          </a:solidFill>
          <a:ln w="6350">
            <a:solidFill>
              <a:srgbClr val="DDE1E6"/>
            </a:solidFill>
            <a:prstDash val="solid"/>
          </a:ln>
        </p:spPr>
      </p:sp>
      <p:pic>
        <p:nvPicPr>
          <p:cNvPr id="16" name="Image 0" descr="Figure 2: enrichment over chance with two-way bootstrap intervals for every model and level, DAVIS and KIBA, UniProt residues and KLIFS pocket">    </p:cNvPr>
          <p:cNvPicPr>
            <a:picLocks noChangeAspect="1"/>
          </p:cNvPicPr>
          <p:nvPr/>
        </p:nvPicPr>
        <p:blipFill>
          <a:blip r:embed="rId1"/>
          <a:srcRect l="-10" r="-10" t="0" b="0"/>
          <a:stretch/>
        </p:blipFill>
        <p:spPr>
          <a:xfrm>
            <a:off x="7016750" y="1832570"/>
            <a:ext cx="3835400" cy="3416300"/>
          </a:xfrm>
          <a:prstGeom prst="rect">
            <a:avLst/>
          </a:prstGeom>
        </p:spPr>
      </p:pic>
      <p:sp>
        <p:nvSpPr>
          <p:cNvPr id="17" name="Text 13"/>
          <p:cNvSpPr/>
          <p:nvPr/>
        </p:nvSpPr>
        <p:spPr>
          <a:xfrm>
            <a:off x="6934200" y="54076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Figure 2 · Enrichment over chance, 95% two-way intervals</a:t>
            </a:r>
            <a:endParaRPr lang="en-US" sz="1200" dirty="0"/>
          </a:p>
        </p:txBody>
      </p:sp>
      <p:sp>
        <p:nvSpPr>
          <p:cNvPr id="18" name="Text 1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Sources: results/effects_v2/ (proteins only) vs results/effects_v2_2d/ (proteins + seeds), enrichment.csv</a:t>
            </a:r>
            <a:endParaRPr lang="en-US" sz="1200" dirty="0"/>
          </a:p>
        </p:txBody>
      </p:sp>
      <p:sp>
        <p:nvSpPr>
          <p:cNvPr id="19"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A1A"/>
                </a:solidFill>
                <a:latin typeface="IBM Plex Sans" pitchFamily="34" charset="0"/>
                <a:ea typeface="IBM Plex Sans" pitchFamily="34" charset="-122"/>
                <a:cs typeface="IBM Plex Sans" pitchFamily="34" charset="-120"/>
              </a:rPr>
              <a:t>HARD RESULT 3 · FAITHFULNESS</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Source Serif 4" pitchFamily="34" charset="0"/>
                <a:ea typeface="Source Serif 4" pitchFamily="34" charset="-122"/>
                <a:cs typeface="Source Serif 4" pitchFamily="34" charset="-120"/>
              </a:rPr>
              <a:t>Attention matters to three of four models, not DrugBAN</a:t>
            </a:r>
            <a:endParaRPr lang="en-US" sz="3000" dirty="0"/>
          </a:p>
        </p:txBody>
      </p:sp>
      <p:sp>
        <p:nvSpPr>
          <p:cNvPr id="4" name="Shape 2"/>
          <p:cNvSpPr/>
          <p:nvPr/>
        </p:nvSpPr>
        <p:spPr>
          <a:xfrm>
            <a:off x="815975" y="1753195"/>
            <a:ext cx="6343650" cy="2343150"/>
          </a:xfrm>
          <a:prstGeom prst="roundRect">
            <a:avLst>
              <a:gd name="adj" fmla="val 3117"/>
            </a:avLst>
          </a:prstGeom>
          <a:solidFill>
            <a:srgbClr val="FFFEFB"/>
          </a:solidFill>
          <a:ln w="6350">
            <a:solidFill>
              <a:srgbClr val="DDE1E6"/>
            </a:solidFill>
            <a:prstDash val="solid"/>
          </a:ln>
        </p:spPr>
      </p:sp>
      <p:pic>
        <p:nvPicPr>
          <p:cNvPr id="5" name="Image 0" descr="Figure 5: faithfulness delta with 95% two-way bootstrap intervals for HyperAttentionDTI, MolTrans and XAttn-Ref">    </p:cNvPr>
          <p:cNvPicPr>
            <a:picLocks noChangeAspect="1"/>
          </p:cNvPicPr>
          <p:nvPr/>
        </p:nvPicPr>
        <p:blipFill>
          <a:blip r:embed="rId1"/>
          <a:srcRect l="0" r="0" t="-38" b="-38"/>
          <a:stretch/>
        </p:blipFill>
        <p:spPr>
          <a:xfrm>
            <a:off x="895350" y="1832570"/>
            <a:ext cx="6197600" cy="2184400"/>
          </a:xfrm>
          <a:prstGeom prst="rect">
            <a:avLst/>
          </a:prstGeom>
        </p:spPr>
      </p:pic>
      <p:sp>
        <p:nvSpPr>
          <p:cNvPr id="6" name="Text 3"/>
          <p:cNvSpPr/>
          <p:nvPr/>
        </p:nvSpPr>
        <p:spPr>
          <a:xfrm>
            <a:off x="812800" y="4226520"/>
            <a:ext cx="65405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Figure 5 · Masking the attended residues minus masking the same number of random ones. 95% intervals, proteins and seeds resampled.</a:t>
            </a:r>
            <a:endParaRPr lang="en-US" sz="1200" dirty="0"/>
          </a:p>
        </p:txBody>
      </p:sp>
      <p:sp>
        <p:nvSpPr>
          <p:cNvPr id="7" name="Text 4"/>
          <p:cNvSpPr/>
          <p:nvPr/>
        </p:nvSpPr>
        <p:spPr>
          <a:xfrm>
            <a:off x="812800" y="4780161"/>
            <a:ext cx="1201886" cy="665460"/>
          </a:xfrm>
          <a:prstGeom prst="rect">
            <a:avLst/>
          </a:prstGeom>
          <a:noFill/>
          <a:ln/>
        </p:spPr>
        <p:txBody>
          <a:bodyPr wrap="none" lIns="0" tIns="0" rIns="0" bIns="0" rtlCol="0" anchor="t">
            <a:normAutofit/>
          </a:bodyPr>
          <a:lstStyle/>
          <a:p>
            <a:pPr algn="l" indent="0" marL="0">
              <a:lnSpc>
                <a:spcPts val="5040"/>
              </a:lnSpc>
              <a:buNone/>
            </a:pPr>
            <a:r>
              <a:rPr lang="en-US" sz="3600" b="1" dirty="0">
                <a:solidFill>
                  <a:srgbClr val="2B5F9E"/>
                </a:solidFill>
                <a:latin typeface="Source Serif 4" pitchFamily="34" charset="0"/>
                <a:ea typeface="Source Serif 4" pitchFamily="34" charset="-122"/>
                <a:cs typeface="Source Serif 4" pitchFamily="34" charset="-120"/>
              </a:rPr>
              <a:t>16 of 16</a:t>
            </a:r>
            <a:endParaRPr lang="en-US" sz="3600" dirty="0"/>
          </a:p>
        </p:txBody>
      </p:sp>
      <p:sp>
        <p:nvSpPr>
          <p:cNvPr id="8" name="Text 5"/>
          <p:cNvSpPr/>
          <p:nvPr/>
        </p:nvSpPr>
        <p:spPr>
          <a:xfrm>
            <a:off x="2116286" y="4869061"/>
            <a:ext cx="519790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intervals above zero for HyperAttentionDTI, MolTrans and XAttn-Ref. Smallest: 0.054 [0.030, 0.080].</a:t>
            </a:r>
            <a:endParaRPr lang="en-US" sz="1300" dirty="0"/>
          </a:p>
        </p:txBody>
      </p:sp>
      <p:sp>
        <p:nvSpPr>
          <p:cNvPr id="9" name="Shape 6"/>
          <p:cNvSpPr/>
          <p:nvPr/>
        </p:nvSpPr>
        <p:spPr>
          <a:xfrm>
            <a:off x="7473950" y="1756370"/>
            <a:ext cx="3898900" cy="3474343"/>
          </a:xfrm>
          <a:prstGeom prst="roundRect">
            <a:avLst>
              <a:gd name="adj" fmla="val 2742"/>
            </a:avLst>
          </a:prstGeom>
          <a:solidFill>
            <a:srgbClr val="FFFEFB"/>
          </a:solidFill>
          <a:ln w="12700">
            <a:solidFill>
              <a:srgbClr val="B04A1A"/>
            </a:solidFill>
            <a:prstDash val="solid"/>
          </a:ln>
        </p:spPr>
      </p:sp>
      <p:sp>
        <p:nvSpPr>
          <p:cNvPr id="10" name="Text 7"/>
          <p:cNvSpPr/>
          <p:nvPr/>
        </p:nvSpPr>
        <p:spPr>
          <a:xfrm>
            <a:off x="7683500" y="1965920"/>
            <a:ext cx="35841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DrugBAN, DAVIS: two of four levels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96200" y="2334220"/>
          <a:ext cx="3467100" cy="1544042"/>
        </p:xfrm>
        <a:graphic>
          <a:graphicData uri="http://schemas.openxmlformats.org/drawingml/2006/table">
            <a:tbl>
              <a:tblPr/>
              <a:tblGrid>
                <a:gridCol w="970788"/>
                <a:gridCol w="1248156"/>
                <a:gridCol w="1248156"/>
              </a:tblGrid>
              <a:tr h="386011">
                <a:tc>
                  <a:txBody>
                    <a:bodyPr/>
                    <a:lstStyle/>
                    <a:p>
                      <a:pPr indent="0" marL="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Seed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r" indent="0" marL="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Cold-drug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r" indent="0" marL="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Cold-pair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86011">
                <a:tc>
                  <a:txBody>
                    <a:bodyPr/>
                    <a:lstStyle/>
                    <a:p>
                      <a:pP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−0.0073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−0.0037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−0.0036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−0.0038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+0.0128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algn="r"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+0.0027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bl>
          </a:graphicData>
        </a:graphic>
      </p:graphicFrame>
      <p:sp>
        <p:nvSpPr>
          <p:cNvPr id="12" name="Text 8"/>
          <p:cNvSpPr/>
          <p:nvPr/>
        </p:nvSpPr>
        <p:spPr>
          <a:xfrm>
            <a:off x="7683500" y="4005262"/>
            <a:ext cx="358419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6 of its 12 seed-level values are negative. All sit near zero, and the sign flips between seeds.</a:t>
            </a:r>
            <a:endParaRPr lang="en-US" sz="1300" dirty="0"/>
          </a:p>
        </p:txBody>
      </p:sp>
      <p:sp>
        <p:nvSpPr>
          <p:cNvPr id="13" name="Text 9"/>
          <p:cNvSpPr/>
          <p:nvPr/>
        </p:nvSpPr>
        <p:spPr>
          <a:xfrm>
            <a:off x="7683500" y="4594523"/>
            <a:ext cx="35841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Point estimates only, so DrugBAN is not drawn in Figure 5. Other levels: see draft.</a:t>
            </a:r>
            <a:endParaRPr lang="en-US" sz="1200" dirty="0"/>
          </a:p>
        </p:txBody>
      </p:sp>
      <p:sp>
        <p:nvSpPr>
          <p:cNvPr id="14" name="Text 10"/>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Sources: results/effects_v2_2d/faithfulness_effects.csv; faithfulness_drugban_davis_seed{1,2,3}.md</a:t>
            </a:r>
            <a:endParaRPr lang="en-US" sz="1200" dirty="0"/>
          </a:p>
        </p:txBody>
      </p:sp>
      <p:sp>
        <p:nvSpPr>
          <p:cNvPr id="15"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A1A"/>
                </a:solidFill>
                <a:latin typeface="IBM Plex Sans" pitchFamily="34" charset="0"/>
                <a:ea typeface="IBM Plex Sans" pitchFamily="34" charset="-122"/>
                <a:cs typeface="IBM Plex Sans" pitchFamily="34" charset="-120"/>
              </a:rPr>
              <a:t>THE SOLUTION · BOX 1</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Source Serif 4" pitchFamily="34" charset="0"/>
                <a:ea typeface="Source Serif 4" pitchFamily="34" charset="-122"/>
                <a:cs typeface="Source Serif 4" pitchFamily="34" charset="-120"/>
              </a:rPr>
              <a:t>An eight-point reporting checklist</a:t>
            </a:r>
            <a:endParaRPr lang="en-US" sz="3000" dirty="0"/>
          </a:p>
        </p:txBody>
      </p:sp>
      <p:sp>
        <p:nvSpPr>
          <p:cNvPr id="4" name="Shape 2"/>
          <p:cNvSpPr/>
          <p:nvPr/>
        </p:nvSpPr>
        <p:spPr>
          <a:xfrm>
            <a:off x="812800" y="1750020"/>
            <a:ext cx="5283200" cy="741611"/>
          </a:xfrm>
          <a:prstGeom prst="roundRect">
            <a:avLst>
              <a:gd name="adj" fmla="val 10275"/>
            </a:avLst>
          </a:prstGeom>
          <a:solidFill>
            <a:srgbClr val="FFFEFB"/>
          </a:solidFill>
          <a:ln/>
        </p:spPr>
      </p:sp>
      <p:sp>
        <p:nvSpPr>
          <p:cNvPr id="5" name="Text 3"/>
          <p:cNvSpPr/>
          <p:nvPr/>
        </p:nvSpPr>
        <p:spPr>
          <a:xfrm>
            <a:off x="990600" y="1925241"/>
            <a:ext cx="3556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4A1A"/>
                </a:solidFill>
                <a:latin typeface="Source Serif 4" pitchFamily="34" charset="0"/>
                <a:ea typeface="Source Serif 4" pitchFamily="34" charset="-122"/>
                <a:cs typeface="Source Serif 4" pitchFamily="34" charset="-120"/>
              </a:rPr>
              <a:t>1</a:t>
            </a:r>
            <a:endParaRPr lang="en-US" sz="2200" dirty="0"/>
          </a:p>
        </p:txBody>
      </p:sp>
      <p:sp>
        <p:nvSpPr>
          <p:cNvPr id="6" name="Text 4"/>
          <p:cNvSpPr/>
          <p:nvPr/>
        </p:nvSpPr>
        <p:spPr>
          <a:xfrm>
            <a:off x="1447800" y="1877020"/>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Report several seeds and their agreement</a:t>
            </a:r>
            <a:endParaRPr lang="en-US" sz="1400" dirty="0"/>
          </a:p>
        </p:txBody>
      </p:sp>
      <p:sp>
        <p:nvSpPr>
          <p:cNvPr id="7" name="Text 5"/>
          <p:cNvSpPr/>
          <p:nvPr/>
        </p:nvSpPr>
        <p:spPr>
          <a:xfrm>
            <a:off x="1447800" y="2151311"/>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9E"/>
                </a:solidFill>
                <a:latin typeface="IBM Plex Sans" pitchFamily="34" charset="0"/>
                <a:ea typeface="IBM Plex Sans" pitchFamily="34" charset="-122"/>
                <a:cs typeface="IBM Plex Sans" pitchFamily="34" charset="-120"/>
              </a:rPr>
              <a:t>11 of 22 cells: seeds disagree</a:t>
            </a:r>
            <a:endParaRPr lang="en-US" sz="1200" dirty="0"/>
          </a:p>
        </p:txBody>
      </p:sp>
      <p:sp>
        <p:nvSpPr>
          <p:cNvPr id="8" name="Shape 6"/>
          <p:cNvSpPr/>
          <p:nvPr/>
        </p:nvSpPr>
        <p:spPr>
          <a:xfrm>
            <a:off x="6096000" y="1750020"/>
            <a:ext cx="5283200" cy="741611"/>
          </a:xfrm>
          <a:prstGeom prst="roundRect">
            <a:avLst>
              <a:gd name="adj" fmla="val 10275"/>
            </a:avLst>
          </a:prstGeom>
          <a:solidFill>
            <a:srgbClr val="FFFEFB"/>
          </a:solidFill>
          <a:ln/>
        </p:spPr>
      </p:sp>
      <p:sp>
        <p:nvSpPr>
          <p:cNvPr id="9" name="Text 7"/>
          <p:cNvSpPr/>
          <p:nvPr/>
        </p:nvSpPr>
        <p:spPr>
          <a:xfrm>
            <a:off x="6273800" y="1925241"/>
            <a:ext cx="3556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4A1A"/>
                </a:solidFill>
                <a:latin typeface="Source Serif 4" pitchFamily="34" charset="0"/>
                <a:ea typeface="Source Serif 4" pitchFamily="34" charset="-122"/>
                <a:cs typeface="Source Serif 4" pitchFamily="34" charset="-120"/>
              </a:rPr>
              <a:t>5</a:t>
            </a:r>
            <a:endParaRPr lang="en-US" sz="2200" dirty="0"/>
          </a:p>
        </p:txBody>
      </p:sp>
      <p:sp>
        <p:nvSpPr>
          <p:cNvPr id="10" name="Text 8"/>
          <p:cNvSpPr/>
          <p:nvPr/>
        </p:nvSpPr>
        <p:spPr>
          <a:xfrm>
            <a:off x="6731000" y="1877020"/>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State the readout: heads, layers, pooling</a:t>
            </a:r>
            <a:endParaRPr lang="en-US" sz="1400" dirty="0"/>
          </a:p>
        </p:txBody>
      </p:sp>
      <p:sp>
        <p:nvSpPr>
          <p:cNvPr id="11" name="Text 9"/>
          <p:cNvSpPr/>
          <p:nvPr/>
        </p:nvSpPr>
        <p:spPr>
          <a:xfrm>
            <a:off x="6731000" y="2151311"/>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9E"/>
                </a:solidFill>
                <a:latin typeface="IBM Plex Sans" pitchFamily="34" charset="0"/>
                <a:ea typeface="IBM Plex Sans" pitchFamily="34" charset="-122"/>
                <a:cs typeface="IBM Plex Sans" pitchFamily="34" charset="-120"/>
              </a:rPr>
              <a:t>Same weights: 0.367 vs 0.081 in the pocket</a:t>
            </a:r>
            <a:endParaRPr lang="en-US" sz="1200" dirty="0"/>
          </a:p>
        </p:txBody>
      </p:sp>
      <p:sp>
        <p:nvSpPr>
          <p:cNvPr id="12" name="Shape 10"/>
          <p:cNvSpPr/>
          <p:nvPr/>
        </p:nvSpPr>
        <p:spPr>
          <a:xfrm>
            <a:off x="812800" y="2491631"/>
            <a:ext cx="5283200" cy="741611"/>
          </a:xfrm>
          <a:prstGeom prst="roundRect">
            <a:avLst>
              <a:gd name="adj" fmla="val 10275"/>
            </a:avLst>
          </a:prstGeom>
          <a:solidFill>
            <a:srgbClr val="FFFEFB"/>
          </a:solidFill>
          <a:ln/>
        </p:spPr>
      </p:sp>
      <p:sp>
        <p:nvSpPr>
          <p:cNvPr id="13" name="Text 11"/>
          <p:cNvSpPr/>
          <p:nvPr/>
        </p:nvSpPr>
        <p:spPr>
          <a:xfrm>
            <a:off x="990600" y="2666851"/>
            <a:ext cx="3556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4A1A"/>
                </a:solidFill>
                <a:latin typeface="Source Serif 4" pitchFamily="34" charset="0"/>
                <a:ea typeface="Source Serif 4" pitchFamily="34" charset="-122"/>
                <a:cs typeface="Source Serif 4" pitchFamily="34" charset="-120"/>
              </a:rPr>
              <a:t>2</a:t>
            </a:r>
            <a:endParaRPr lang="en-US" sz="2200" dirty="0"/>
          </a:p>
        </p:txBody>
      </p:sp>
      <p:sp>
        <p:nvSpPr>
          <p:cNvPr id="14" name="Text 12"/>
          <p:cNvSpPr/>
          <p:nvPr/>
        </p:nvSpPr>
        <p:spPr>
          <a:xfrm>
            <a:off x="1447800" y="2618631"/>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Read hit rates against chance and ceiling</a:t>
            </a:r>
            <a:endParaRPr lang="en-US" sz="1400" dirty="0"/>
          </a:p>
        </p:txBody>
      </p:sp>
      <p:sp>
        <p:nvSpPr>
          <p:cNvPr id="15" name="Text 13"/>
          <p:cNvSpPr/>
          <p:nvPr/>
        </p:nvSpPr>
        <p:spPr>
          <a:xfrm>
            <a:off x="1447800" y="2892921"/>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9E"/>
                </a:solidFill>
                <a:latin typeface="IBM Plex Sans" pitchFamily="34" charset="0"/>
                <a:ea typeface="IBM Plex Sans" pitchFamily="34" charset="-122"/>
                <a:cs typeface="IBM Plex Sans" pitchFamily="34" charset="-120"/>
              </a:rPr>
              <a:t>Residue chance is only 0.019–0.020 on DAVIS</a:t>
            </a:r>
            <a:endParaRPr lang="en-US" sz="1200" dirty="0"/>
          </a:p>
        </p:txBody>
      </p:sp>
      <p:sp>
        <p:nvSpPr>
          <p:cNvPr id="16" name="Shape 14"/>
          <p:cNvSpPr/>
          <p:nvPr/>
        </p:nvSpPr>
        <p:spPr>
          <a:xfrm>
            <a:off x="6096000" y="2491631"/>
            <a:ext cx="5283200" cy="741611"/>
          </a:xfrm>
          <a:prstGeom prst="roundRect">
            <a:avLst>
              <a:gd name="adj" fmla="val 10275"/>
            </a:avLst>
          </a:prstGeom>
          <a:solidFill>
            <a:srgbClr val="FFFEFB"/>
          </a:solidFill>
          <a:ln/>
        </p:spPr>
      </p:sp>
      <p:sp>
        <p:nvSpPr>
          <p:cNvPr id="17" name="Text 15"/>
          <p:cNvSpPr/>
          <p:nvPr/>
        </p:nvSpPr>
        <p:spPr>
          <a:xfrm>
            <a:off x="6273800" y="2666851"/>
            <a:ext cx="3556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4A1A"/>
                </a:solidFill>
                <a:latin typeface="Source Serif 4" pitchFamily="34" charset="0"/>
                <a:ea typeface="Source Serif 4" pitchFamily="34" charset="-122"/>
                <a:cs typeface="Source Serif 4" pitchFamily="34" charset="-120"/>
              </a:rPr>
              <a:t>6</a:t>
            </a:r>
            <a:endParaRPr lang="en-US" sz="2200" dirty="0"/>
          </a:p>
        </p:txBody>
      </p:sp>
      <p:sp>
        <p:nvSpPr>
          <p:cNvPr id="18" name="Text 16"/>
          <p:cNvSpPr/>
          <p:nvPr/>
        </p:nvSpPr>
        <p:spPr>
          <a:xfrm>
            <a:off x="6731000" y="2618631"/>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State what inputs the map depends on</a:t>
            </a:r>
            <a:endParaRPr lang="en-US" sz="1400" dirty="0"/>
          </a:p>
        </p:txBody>
      </p:sp>
      <p:sp>
        <p:nvSpPr>
          <p:cNvPr id="19" name="Text 17"/>
          <p:cNvSpPr/>
          <p:nvPr/>
        </p:nvSpPr>
        <p:spPr>
          <a:xfrm>
            <a:off x="6731000" y="2892921"/>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9E"/>
                </a:solidFill>
                <a:latin typeface="IBM Plex Sans" pitchFamily="34" charset="0"/>
                <a:ea typeface="IBM Plex Sans" pitchFamily="34" charset="-122"/>
                <a:cs typeface="IBM Plex Sans" pitchFamily="34" charset="-120"/>
              </a:rPr>
              <a:t>MolTrans readout scored: same top ten for every drug</a:t>
            </a:r>
            <a:endParaRPr lang="en-US" sz="1200" dirty="0"/>
          </a:p>
        </p:txBody>
      </p:sp>
      <p:sp>
        <p:nvSpPr>
          <p:cNvPr id="20" name="Shape 18"/>
          <p:cNvSpPr/>
          <p:nvPr/>
        </p:nvSpPr>
        <p:spPr>
          <a:xfrm>
            <a:off x="812800" y="3233241"/>
            <a:ext cx="5283200" cy="741611"/>
          </a:xfrm>
          <a:prstGeom prst="roundRect">
            <a:avLst>
              <a:gd name="adj" fmla="val 10275"/>
            </a:avLst>
          </a:prstGeom>
          <a:solidFill>
            <a:srgbClr val="FFFEFB"/>
          </a:solidFill>
          <a:ln/>
        </p:spPr>
      </p:sp>
      <p:sp>
        <p:nvSpPr>
          <p:cNvPr id="21" name="Text 19"/>
          <p:cNvSpPr/>
          <p:nvPr/>
        </p:nvSpPr>
        <p:spPr>
          <a:xfrm>
            <a:off x="990600" y="3408462"/>
            <a:ext cx="3556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4A1A"/>
                </a:solidFill>
                <a:latin typeface="Source Serif 4" pitchFamily="34" charset="0"/>
                <a:ea typeface="Source Serif 4" pitchFamily="34" charset="-122"/>
                <a:cs typeface="Source Serif 4" pitchFamily="34" charset="-120"/>
              </a:rPr>
              <a:t>3</a:t>
            </a:r>
            <a:endParaRPr lang="en-US" sz="2200" dirty="0"/>
          </a:p>
        </p:txBody>
      </p:sp>
      <p:sp>
        <p:nvSpPr>
          <p:cNvPr id="22" name="Text 20"/>
          <p:cNvSpPr/>
          <p:nvPr/>
        </p:nvSpPr>
        <p:spPr>
          <a:xfrm>
            <a:off x="1447800" y="3360241"/>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Add a flat-map floor and positive control</a:t>
            </a:r>
            <a:endParaRPr lang="en-US" sz="1400" dirty="0"/>
          </a:p>
        </p:txBody>
      </p:sp>
      <p:sp>
        <p:nvSpPr>
          <p:cNvPr id="23" name="Text 21"/>
          <p:cNvSpPr/>
          <p:nvPr/>
        </p:nvSpPr>
        <p:spPr>
          <a:xfrm>
            <a:off x="1447800" y="3634532"/>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9E"/>
                </a:solidFill>
                <a:latin typeface="IBM Plex Sans" pitchFamily="34" charset="0"/>
                <a:ea typeface="IBM Plex Sans" pitchFamily="34" charset="-122"/>
                <a:cs typeface="IBM Plex Sans" pitchFamily="34" charset="-120"/>
              </a:rPr>
              <a:t>Detects a 0.02 dose at every DAVIS level</a:t>
            </a:r>
            <a:endParaRPr lang="en-US" sz="1200" dirty="0"/>
          </a:p>
        </p:txBody>
      </p:sp>
      <p:sp>
        <p:nvSpPr>
          <p:cNvPr id="24" name="Shape 22"/>
          <p:cNvSpPr/>
          <p:nvPr/>
        </p:nvSpPr>
        <p:spPr>
          <a:xfrm>
            <a:off x="6096000" y="3233241"/>
            <a:ext cx="5283200" cy="741611"/>
          </a:xfrm>
          <a:prstGeom prst="roundRect">
            <a:avLst>
              <a:gd name="adj" fmla="val 10275"/>
            </a:avLst>
          </a:prstGeom>
          <a:solidFill>
            <a:srgbClr val="FFFEFB"/>
          </a:solidFill>
          <a:ln/>
        </p:spPr>
      </p:sp>
      <p:sp>
        <p:nvSpPr>
          <p:cNvPr id="25" name="Text 23"/>
          <p:cNvSpPr/>
          <p:nvPr/>
        </p:nvSpPr>
        <p:spPr>
          <a:xfrm>
            <a:off x="6273800" y="3408462"/>
            <a:ext cx="3556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4A1A"/>
                </a:solidFill>
                <a:latin typeface="Source Serif 4" pitchFamily="34" charset="0"/>
                <a:ea typeface="Source Serif 4" pitchFamily="34" charset="-122"/>
                <a:cs typeface="Source Serif 4" pitchFamily="34" charset="-120"/>
              </a:rPr>
              <a:t>7</a:t>
            </a:r>
            <a:endParaRPr lang="en-US" sz="2200" dirty="0"/>
          </a:p>
        </p:txBody>
      </p:sp>
      <p:sp>
        <p:nvSpPr>
          <p:cNvPr id="26" name="Text 24"/>
          <p:cNvSpPr/>
          <p:nvPr/>
        </p:nvSpPr>
        <p:spPr>
          <a:xfrm>
            <a:off x="6731000" y="3360241"/>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Test faithfulness with size-matched masks</a:t>
            </a:r>
            <a:endParaRPr lang="en-US" sz="1400" dirty="0"/>
          </a:p>
        </p:txBody>
      </p:sp>
      <p:sp>
        <p:nvSpPr>
          <p:cNvPr id="27" name="Text 25"/>
          <p:cNvSpPr/>
          <p:nvPr/>
        </p:nvSpPr>
        <p:spPr>
          <a:xfrm>
            <a:off x="6731000" y="3634532"/>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9E"/>
                </a:solidFill>
                <a:latin typeface="IBM Plex Sans" pitchFamily="34" charset="0"/>
                <a:ea typeface="IBM Plex Sans" pitchFamily="34" charset="-122"/>
                <a:cs typeface="IBM Plex Sans" pitchFamily="34" charset="-120"/>
              </a:rPr>
              <a:t>DrugBAN: the sign flips between seeds</a:t>
            </a:r>
            <a:endParaRPr lang="en-US" sz="1200" dirty="0"/>
          </a:p>
        </p:txBody>
      </p:sp>
      <p:sp>
        <p:nvSpPr>
          <p:cNvPr id="28" name="Shape 26"/>
          <p:cNvSpPr/>
          <p:nvPr/>
        </p:nvSpPr>
        <p:spPr>
          <a:xfrm>
            <a:off x="812800" y="3974852"/>
            <a:ext cx="5283200" cy="741611"/>
          </a:xfrm>
          <a:prstGeom prst="roundRect">
            <a:avLst>
              <a:gd name="adj" fmla="val 10275"/>
            </a:avLst>
          </a:prstGeom>
          <a:solidFill>
            <a:srgbClr val="FFFEFB"/>
          </a:solidFill>
          <a:ln/>
        </p:spPr>
      </p:sp>
      <p:sp>
        <p:nvSpPr>
          <p:cNvPr id="29" name="Text 27"/>
          <p:cNvSpPr/>
          <p:nvPr/>
        </p:nvSpPr>
        <p:spPr>
          <a:xfrm>
            <a:off x="990600" y="4150072"/>
            <a:ext cx="3556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4A1A"/>
                </a:solidFill>
                <a:latin typeface="Source Serif 4" pitchFamily="34" charset="0"/>
                <a:ea typeface="Source Serif 4" pitchFamily="34" charset="-122"/>
                <a:cs typeface="Source Serif 4" pitchFamily="34" charset="-120"/>
              </a:rPr>
              <a:t>4</a:t>
            </a:r>
            <a:endParaRPr lang="en-US" sz="2200" dirty="0"/>
          </a:p>
        </p:txBody>
      </p:sp>
      <p:sp>
        <p:nvSpPr>
          <p:cNvPr id="30" name="Text 28"/>
          <p:cNvSpPr/>
          <p:nvPr/>
        </p:nvSpPr>
        <p:spPr>
          <a:xfrm>
            <a:off x="1447800" y="4101852"/>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Correct for multiple comparisons</a:t>
            </a:r>
            <a:endParaRPr lang="en-US" sz="1400" dirty="0"/>
          </a:p>
        </p:txBody>
      </p:sp>
      <p:sp>
        <p:nvSpPr>
          <p:cNvPr id="31" name="Text 29"/>
          <p:cNvSpPr/>
          <p:nvPr/>
        </p:nvSpPr>
        <p:spPr>
          <a:xfrm>
            <a:off x="1447800" y="4376142"/>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9E"/>
                </a:solidFill>
                <a:latin typeface="IBM Plex Sans" pitchFamily="34" charset="0"/>
                <a:ea typeface="IBM Plex Sans" pitchFamily="34" charset="-122"/>
                <a:cs typeface="IBM Plex Sans" pitchFamily="34" charset="-120"/>
              </a:rPr>
              <a:t>1 of 20 DAVIS cells survives Holm (median p over seeds)</a:t>
            </a:r>
            <a:endParaRPr lang="en-US" sz="1200" dirty="0"/>
          </a:p>
        </p:txBody>
      </p:sp>
      <p:sp>
        <p:nvSpPr>
          <p:cNvPr id="32" name="Shape 30"/>
          <p:cNvSpPr/>
          <p:nvPr/>
        </p:nvSpPr>
        <p:spPr>
          <a:xfrm>
            <a:off x="6096000" y="3974852"/>
            <a:ext cx="5283200" cy="741611"/>
          </a:xfrm>
          <a:prstGeom prst="roundRect">
            <a:avLst>
              <a:gd name="adj" fmla="val 10275"/>
            </a:avLst>
          </a:prstGeom>
          <a:solidFill>
            <a:srgbClr val="FFFEFB"/>
          </a:solidFill>
          <a:ln/>
        </p:spPr>
      </p:sp>
      <p:sp>
        <p:nvSpPr>
          <p:cNvPr id="33" name="Text 31"/>
          <p:cNvSpPr/>
          <p:nvPr/>
        </p:nvSpPr>
        <p:spPr>
          <a:xfrm>
            <a:off x="6273800" y="4150072"/>
            <a:ext cx="3556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4A1A"/>
                </a:solidFill>
                <a:latin typeface="Source Serif 4" pitchFamily="34" charset="0"/>
                <a:ea typeface="Source Serif 4" pitchFamily="34" charset="-122"/>
                <a:cs typeface="Source Serif 4" pitchFamily="34" charset="-120"/>
              </a:rPr>
              <a:t>8</a:t>
            </a:r>
            <a:endParaRPr lang="en-US" sz="2200" dirty="0"/>
          </a:p>
        </p:txBody>
      </p:sp>
      <p:sp>
        <p:nvSpPr>
          <p:cNvPr id="34" name="Text 32"/>
          <p:cNvSpPr/>
          <p:nvPr/>
        </p:nvSpPr>
        <p:spPr>
          <a:xfrm>
            <a:off x="6731000" y="4101852"/>
            <a:ext cx="46045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Check “unseen” splits by sequence</a:t>
            </a:r>
            <a:endParaRPr lang="en-US" sz="1400" dirty="0"/>
          </a:p>
        </p:txBody>
      </p:sp>
      <p:sp>
        <p:nvSpPr>
          <p:cNvPr id="35" name="Text 33"/>
          <p:cNvSpPr/>
          <p:nvPr/>
        </p:nvSpPr>
        <p:spPr>
          <a:xfrm>
            <a:off x="6731000" y="4376142"/>
            <a:ext cx="460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9E"/>
                </a:solidFill>
                <a:latin typeface="IBM Plex Sans" pitchFamily="34" charset="0"/>
                <a:ea typeface="IBM Plex Sans" pitchFamily="34" charset="-122"/>
                <a:cs typeface="IBM Plex Sans" pitchFamily="34" charset="-120"/>
              </a:rPr>
              <a:t>12 of 88 “unseen” proteins seen in training</a:t>
            </a:r>
            <a:endParaRPr lang="en-US" sz="1200" dirty="0"/>
          </a:p>
        </p:txBody>
      </p:sp>
      <p:sp>
        <p:nvSpPr>
          <p:cNvPr id="36" name="Text 34"/>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Blue line under each item: the finding in our data that makes it necessary. Source: draft Box 1</a:t>
            </a:r>
            <a:endParaRPr lang="en-US" sz="1200" dirty="0"/>
          </a:p>
        </p:txBody>
      </p:sp>
      <p:sp>
        <p:nvSpPr>
          <p:cNvPr id="37" name="Text 3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A1A"/>
                </a:solidFill>
                <a:latin typeface="IBM Plex Sans" pitchFamily="34" charset="0"/>
                <a:ea typeface="IBM Plex Sans" pitchFamily="34" charset="-122"/>
                <a:cs typeface="IBM Plex Sans" pitchFamily="34" charset="-120"/>
              </a:rPr>
              <a:t>WHAT IS LEFT · WAVE A COMPUTE</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213D"/>
                </a:solidFill>
                <a:latin typeface="Source Serif 4" pitchFamily="34" charset="0"/>
                <a:ea typeface="Source Serif 4" pitchFamily="34" charset="-122"/>
                <a:cs typeface="Source Serif 4" pitchFamily="34" charset="-120"/>
              </a:rPr>
              <a:t>30 training jobs: planned, split and gated</a:t>
            </a:r>
            <a:endParaRPr lang="en-US" sz="3000" dirty="0"/>
          </a:p>
        </p:txBody>
      </p:sp>
      <p:sp>
        <p:nvSpPr>
          <p:cNvPr id="4" name="Shape 2"/>
          <p:cNvSpPr/>
          <p:nvPr/>
        </p:nvSpPr>
        <p:spPr>
          <a:xfrm>
            <a:off x="815975" y="1702395"/>
            <a:ext cx="3414167" cy="1723231"/>
          </a:xfrm>
          <a:prstGeom prst="roundRect">
            <a:avLst>
              <a:gd name="adj" fmla="val 4238"/>
            </a:avLst>
          </a:prstGeom>
          <a:solidFill>
            <a:srgbClr val="FFFEFB"/>
          </a:solidFill>
          <a:ln w="6350">
            <a:solidFill>
              <a:srgbClr val="DDE1E6"/>
            </a:solidFill>
            <a:prstDash val="solid"/>
          </a:ln>
        </p:spPr>
      </p:sp>
      <p:sp>
        <p:nvSpPr>
          <p:cNvPr id="5" name="Text 3"/>
          <p:cNvSpPr/>
          <p:nvPr/>
        </p:nvSpPr>
        <p:spPr>
          <a:xfrm>
            <a:off x="1022350" y="188337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F9E"/>
                </a:solidFill>
                <a:latin typeface="IBM Plex Sans" pitchFamily="34" charset="0"/>
                <a:ea typeface="IBM Plex Sans" pitchFamily="34" charset="-122"/>
                <a:cs typeface="IBM Plex Sans" pitchFamily="34" charset="-120"/>
              </a:rPr>
              <a:t>ACCOUNT 1 · 12 CELLS</a:t>
            </a:r>
            <a:endParaRPr lang="en-US" sz="1200" dirty="0"/>
          </a:p>
        </p:txBody>
      </p:sp>
      <p:sp>
        <p:nvSpPr>
          <p:cNvPr id="6" name="Text 4"/>
          <p:cNvSpPr/>
          <p:nvPr/>
        </p:nvSpPr>
        <p:spPr>
          <a:xfrm>
            <a:off x="1022350" y="2172891"/>
            <a:ext cx="309145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Seed 4 × HyperAttentionDTI, MolTrans, XAttn-Ref × 4 DAVIS levels</a:t>
            </a:r>
            <a:endParaRPr lang="en-US" sz="1400" dirty="0"/>
          </a:p>
        </p:txBody>
      </p:sp>
      <p:sp>
        <p:nvSpPr>
          <p:cNvPr id="7" name="Text 5"/>
          <p:cNvSpPr/>
          <p:nvPr/>
        </p:nvSpPr>
        <p:spPr>
          <a:xfrm>
            <a:off x="1022350" y="2746871"/>
            <a:ext cx="3091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23.2 GPU-hours (21.8–24.7)</a:t>
            </a:r>
            <a:endParaRPr lang="en-US" sz="1400" dirty="0"/>
          </a:p>
        </p:txBody>
      </p:sp>
      <p:sp>
        <p:nvSpPr>
          <p:cNvPr id="8" name="Shape 6"/>
          <p:cNvSpPr/>
          <p:nvPr/>
        </p:nvSpPr>
        <p:spPr>
          <a:xfrm>
            <a:off x="4388892" y="1702395"/>
            <a:ext cx="3414167" cy="1723231"/>
          </a:xfrm>
          <a:prstGeom prst="roundRect">
            <a:avLst>
              <a:gd name="adj" fmla="val 4238"/>
            </a:avLst>
          </a:prstGeom>
          <a:solidFill>
            <a:srgbClr val="FFFEFB"/>
          </a:solidFill>
          <a:ln w="6350">
            <a:solidFill>
              <a:srgbClr val="DDE1E6"/>
            </a:solidFill>
            <a:prstDash val="solid"/>
          </a:ln>
        </p:spPr>
      </p:sp>
      <p:sp>
        <p:nvSpPr>
          <p:cNvPr id="9" name="Text 7"/>
          <p:cNvSpPr/>
          <p:nvPr/>
        </p:nvSpPr>
        <p:spPr>
          <a:xfrm>
            <a:off x="4595267" y="188337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B5F9E"/>
                </a:solidFill>
                <a:latin typeface="IBM Plex Sans" pitchFamily="34" charset="0"/>
                <a:ea typeface="IBM Plex Sans" pitchFamily="34" charset="-122"/>
                <a:cs typeface="IBM Plex Sans" pitchFamily="34" charset="-120"/>
              </a:rPr>
              <a:t>ACCOUNT 2 · 12 CELLS</a:t>
            </a:r>
            <a:endParaRPr lang="en-US" sz="1200" dirty="0"/>
          </a:p>
        </p:txBody>
      </p:sp>
      <p:sp>
        <p:nvSpPr>
          <p:cNvPr id="10" name="Text 8"/>
          <p:cNvSpPr/>
          <p:nvPr/>
        </p:nvSpPr>
        <p:spPr>
          <a:xfrm>
            <a:off x="4595267" y="2172891"/>
            <a:ext cx="309145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Seed 5 × the same three models × 4 DAVIS levels</a:t>
            </a:r>
            <a:endParaRPr lang="en-US" sz="1400" dirty="0"/>
          </a:p>
        </p:txBody>
      </p:sp>
      <p:sp>
        <p:nvSpPr>
          <p:cNvPr id="11" name="Text 9"/>
          <p:cNvSpPr/>
          <p:nvPr/>
        </p:nvSpPr>
        <p:spPr>
          <a:xfrm>
            <a:off x="4595267" y="2746871"/>
            <a:ext cx="30914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23.2 GPU-hours (21.8–24.7)</a:t>
            </a:r>
            <a:endParaRPr lang="en-US" sz="1400" dirty="0"/>
          </a:p>
        </p:txBody>
      </p:sp>
      <p:sp>
        <p:nvSpPr>
          <p:cNvPr id="12" name="Shape 10"/>
          <p:cNvSpPr/>
          <p:nvPr/>
        </p:nvSpPr>
        <p:spPr>
          <a:xfrm>
            <a:off x="7961809" y="1702395"/>
            <a:ext cx="3414216" cy="1723231"/>
          </a:xfrm>
          <a:prstGeom prst="roundRect">
            <a:avLst>
              <a:gd name="adj" fmla="val 4238"/>
            </a:avLst>
          </a:prstGeom>
          <a:solidFill>
            <a:srgbClr val="FFFEFB"/>
          </a:solidFill>
          <a:ln w="6350">
            <a:solidFill>
              <a:srgbClr val="DDE1E6"/>
            </a:solidFill>
            <a:prstDash val="solid"/>
          </a:ln>
        </p:spPr>
      </p:sp>
      <p:sp>
        <p:nvSpPr>
          <p:cNvPr id="13" name="Text 11"/>
          <p:cNvSpPr/>
          <p:nvPr/>
        </p:nvSpPr>
        <p:spPr>
          <a:xfrm>
            <a:off x="8168184" y="188337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04A1A"/>
                </a:solidFill>
                <a:latin typeface="IBM Plex Sans" pitchFamily="34" charset="0"/>
                <a:ea typeface="IBM Plex Sans" pitchFamily="34" charset="-122"/>
                <a:cs typeface="IBM Plex Sans" pitchFamily="34" charset="-120"/>
              </a:rPr>
              <a:t>ACCOUNT 3 · 6 CELLS</a:t>
            </a:r>
            <a:endParaRPr lang="en-US" sz="1200" dirty="0"/>
          </a:p>
        </p:txBody>
      </p:sp>
      <p:sp>
        <p:nvSpPr>
          <p:cNvPr id="14" name="Text 12"/>
          <p:cNvSpPr/>
          <p:nvPr/>
        </p:nvSpPr>
        <p:spPr>
          <a:xfrm>
            <a:off x="8168184" y="2172891"/>
            <a:ext cx="309151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DrugBAN × KIBA × 2 levels × seeds 1–3</a:t>
            </a:r>
            <a:endParaRPr lang="en-US" sz="1400" dirty="0"/>
          </a:p>
        </p:txBody>
      </p:sp>
      <p:sp>
        <p:nvSpPr>
          <p:cNvPr id="15" name="Text 13"/>
          <p:cNvSpPr/>
          <p:nvPr/>
        </p:nvSpPr>
        <p:spPr>
          <a:xfrm>
            <a:off x="8168184" y="2746871"/>
            <a:ext cx="309151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Hours not yet measured: timing run first</a:t>
            </a:r>
            <a:endParaRPr lang="en-US" sz="1400" dirty="0"/>
          </a:p>
        </p:txBody>
      </p:sp>
      <p:sp>
        <p:nvSpPr>
          <p:cNvPr id="16" name="Shape 14"/>
          <p:cNvSpPr/>
          <p:nvPr/>
        </p:nvSpPr>
        <p:spPr>
          <a:xfrm>
            <a:off x="812800" y="3632002"/>
            <a:ext cx="1788120" cy="650180"/>
          </a:xfrm>
          <a:prstGeom prst="roundRect">
            <a:avLst>
              <a:gd name="adj" fmla="val 11720"/>
            </a:avLst>
          </a:prstGeom>
          <a:solidFill>
            <a:srgbClr val="E6EEF7"/>
          </a:solidFill>
          <a:ln/>
        </p:spPr>
      </p:sp>
      <p:pic>
        <p:nvPicPr>
          <p:cNvPr id="17" name="Image 0" descr="CheckCircle">    </p:cNvPr>
          <p:cNvPicPr>
            <a:picLocks noChangeAspect="1"/>
          </p:cNvPicPr>
          <p:nvPr/>
        </p:nvPicPr>
        <p:blipFill>
          <a:blip r:embed="rId1"/>
          <a:srcRect l="-285" r="-285" t="0" b="0"/>
          <a:stretch/>
        </p:blipFill>
        <p:spPr>
          <a:xfrm>
            <a:off x="965200" y="3855492"/>
            <a:ext cx="166043" cy="203200"/>
          </a:xfrm>
          <a:prstGeom prst="rect">
            <a:avLst/>
          </a:prstGeom>
        </p:spPr>
      </p:pic>
      <p:sp>
        <p:nvSpPr>
          <p:cNvPr id="18" name="Text 15"/>
          <p:cNvSpPr/>
          <p:nvPr/>
        </p:nvSpPr>
        <p:spPr>
          <a:xfrm>
            <a:off x="1207443" y="3759002"/>
            <a:ext cx="1291878"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Done:</a:t>
            </a:r>
            <a:r>
              <a:rPr lang="en-US" sz="1200" dirty="0">
                <a:solidFill>
                  <a:srgbClr val="14213D"/>
                </a:solidFill>
                <a:latin typeface="IBM Plex Sans" pitchFamily="34" charset="0"/>
                <a:ea typeface="IBM Plex Sans" pitchFamily="34" charset="-122"/>
                <a:cs typeface="IBM Plex Sans" pitchFamily="34" charset="-120"/>
              </a:rPr>
              <a:t> notebooks built</a:t>
            </a:r>
            <a:endParaRPr lang="en-US" sz="1200" dirty="0"/>
          </a:p>
        </p:txBody>
      </p:sp>
      <p:sp>
        <p:nvSpPr>
          <p:cNvPr id="19" name="Text 16"/>
          <p:cNvSpPr/>
          <p:nvPr/>
        </p:nvSpPr>
        <p:spPr>
          <a:xfrm>
            <a:off x="2702520" y="381486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280"/>
                </a:solidFill>
                <a:latin typeface="IBM Plex Sans" pitchFamily="34" charset="0"/>
                <a:ea typeface="IBM Plex Sans" pitchFamily="34" charset="-122"/>
                <a:cs typeface="IBM Plex Sans" pitchFamily="34" charset="-120"/>
              </a:rPr>
              <a:t>→</a:t>
            </a:r>
            <a:endParaRPr lang="en-US" sz="1600" dirty="0"/>
          </a:p>
        </p:txBody>
      </p:sp>
      <p:sp>
        <p:nvSpPr>
          <p:cNvPr id="20" name="Shape 17"/>
          <p:cNvSpPr/>
          <p:nvPr/>
        </p:nvSpPr>
        <p:spPr>
          <a:xfrm>
            <a:off x="3007320" y="3632002"/>
            <a:ext cx="1788170" cy="650180"/>
          </a:xfrm>
          <a:prstGeom prst="roundRect">
            <a:avLst>
              <a:gd name="adj" fmla="val 11720"/>
            </a:avLst>
          </a:prstGeom>
          <a:solidFill>
            <a:srgbClr val="E6EEF7"/>
          </a:solidFill>
          <a:ln/>
        </p:spPr>
      </p:sp>
      <p:pic>
        <p:nvPicPr>
          <p:cNvPr id="21" name="Image 1" descr="CheckCircle">    </p:cNvPr>
          <p:cNvPicPr>
            <a:picLocks noChangeAspect="1"/>
          </p:cNvPicPr>
          <p:nvPr/>
        </p:nvPicPr>
        <p:blipFill>
          <a:blip r:embed="rId2"/>
          <a:srcRect l="-302" r="-302" t="0" b="0"/>
          <a:stretch/>
        </p:blipFill>
        <p:spPr>
          <a:xfrm>
            <a:off x="3159720" y="3855492"/>
            <a:ext cx="140543" cy="203200"/>
          </a:xfrm>
          <a:prstGeom prst="rect">
            <a:avLst/>
          </a:prstGeom>
        </p:spPr>
      </p:pic>
      <p:sp>
        <p:nvSpPr>
          <p:cNvPr id="22" name="Text 18"/>
          <p:cNvSpPr/>
          <p:nvPr/>
        </p:nvSpPr>
        <p:spPr>
          <a:xfrm>
            <a:off x="3376464" y="3759002"/>
            <a:ext cx="1317427"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Done:</a:t>
            </a:r>
            <a:r>
              <a:rPr lang="en-US" sz="1200" dirty="0">
                <a:solidFill>
                  <a:srgbClr val="14213D"/>
                </a:solidFill>
                <a:latin typeface="IBM Plex Sans" pitchFamily="34" charset="0"/>
                <a:ea typeface="IBM Plex Sans" pitchFamily="34" charset="-122"/>
                <a:cs typeface="IBM Plex Sans" pitchFamily="34" charset="-120"/>
              </a:rPr>
              <a:t> dry-run checks pass</a:t>
            </a:r>
            <a:endParaRPr lang="en-US" sz="1200" dirty="0"/>
          </a:p>
        </p:txBody>
      </p:sp>
      <p:sp>
        <p:nvSpPr>
          <p:cNvPr id="23" name="Text 19"/>
          <p:cNvSpPr/>
          <p:nvPr/>
        </p:nvSpPr>
        <p:spPr>
          <a:xfrm>
            <a:off x="4897090" y="381486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280"/>
                </a:solidFill>
                <a:latin typeface="IBM Plex Sans" pitchFamily="34" charset="0"/>
                <a:ea typeface="IBM Plex Sans" pitchFamily="34" charset="-122"/>
                <a:cs typeface="IBM Plex Sans" pitchFamily="34" charset="-120"/>
              </a:rPr>
              <a:t>→</a:t>
            </a:r>
            <a:endParaRPr lang="en-US" sz="1600" dirty="0"/>
          </a:p>
        </p:txBody>
      </p:sp>
      <p:sp>
        <p:nvSpPr>
          <p:cNvPr id="24" name="Shape 20"/>
          <p:cNvSpPr/>
          <p:nvPr/>
        </p:nvSpPr>
        <p:spPr>
          <a:xfrm>
            <a:off x="5201890" y="3632002"/>
            <a:ext cx="2084834" cy="650180"/>
          </a:xfrm>
          <a:prstGeom prst="roundRect">
            <a:avLst>
              <a:gd name="adj" fmla="val 11720"/>
            </a:avLst>
          </a:prstGeom>
          <a:solidFill>
            <a:srgbClr val="F6EDE4"/>
          </a:solidFill>
          <a:ln/>
        </p:spPr>
      </p:sp>
      <p:pic>
        <p:nvPicPr>
          <p:cNvPr id="25" name="Image 2" descr="Clock">    </p:cNvPr>
          <p:cNvPicPr>
            <a:picLocks noChangeAspect="1"/>
          </p:cNvPicPr>
          <p:nvPr/>
        </p:nvPicPr>
        <p:blipFill>
          <a:blip r:embed="rId3"/>
          <a:srcRect l="-884" r="-884" t="0" b="0"/>
          <a:stretch/>
        </p:blipFill>
        <p:spPr>
          <a:xfrm>
            <a:off x="5354290" y="3855492"/>
            <a:ext cx="122783" cy="203200"/>
          </a:xfrm>
          <a:prstGeom prst="rect">
            <a:avLst/>
          </a:prstGeom>
        </p:spPr>
      </p:pic>
      <p:sp>
        <p:nvSpPr>
          <p:cNvPr id="26" name="Text 21"/>
          <p:cNvSpPr/>
          <p:nvPr/>
        </p:nvSpPr>
        <p:spPr>
          <a:xfrm>
            <a:off x="5553273" y="3759002"/>
            <a:ext cx="1631851"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Next:</a:t>
            </a:r>
            <a:r>
              <a:rPr lang="en-US" sz="1200" dirty="0">
                <a:solidFill>
                  <a:srgbClr val="14213D"/>
                </a:solidFill>
                <a:latin typeface="IBM Plex Sans" pitchFamily="34" charset="0"/>
                <a:ea typeface="IBM Plex Sans" pitchFamily="34" charset="-122"/>
                <a:cs typeface="IBM Plex Sans" pitchFamily="34" charset="-120"/>
              </a:rPr>
              <a:t> canary must match an old result</a:t>
            </a:r>
            <a:endParaRPr lang="en-US" sz="1200" dirty="0"/>
          </a:p>
        </p:txBody>
      </p:sp>
      <p:sp>
        <p:nvSpPr>
          <p:cNvPr id="27" name="Text 22"/>
          <p:cNvSpPr/>
          <p:nvPr/>
        </p:nvSpPr>
        <p:spPr>
          <a:xfrm>
            <a:off x="7388324" y="381486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280"/>
                </a:solidFill>
                <a:latin typeface="IBM Plex Sans" pitchFamily="34" charset="0"/>
                <a:ea typeface="IBM Plex Sans" pitchFamily="34" charset="-122"/>
                <a:cs typeface="IBM Plex Sans" pitchFamily="34" charset="-120"/>
              </a:rPr>
              <a:t>→</a:t>
            </a:r>
            <a:endParaRPr lang="en-US" sz="1600" dirty="0"/>
          </a:p>
        </p:txBody>
      </p:sp>
      <p:sp>
        <p:nvSpPr>
          <p:cNvPr id="28" name="Shape 23"/>
          <p:cNvSpPr/>
          <p:nvPr/>
        </p:nvSpPr>
        <p:spPr>
          <a:xfrm>
            <a:off x="7693124" y="3632002"/>
            <a:ext cx="1788170" cy="650180"/>
          </a:xfrm>
          <a:prstGeom prst="roundRect">
            <a:avLst>
              <a:gd name="adj" fmla="val 11720"/>
            </a:avLst>
          </a:prstGeom>
          <a:solidFill>
            <a:srgbClr val="F6EDE4"/>
          </a:solidFill>
          <a:ln/>
        </p:spPr>
      </p:sp>
      <p:pic>
        <p:nvPicPr>
          <p:cNvPr id="29" name="Image 3" descr="Clock">    </p:cNvPr>
          <p:cNvPicPr>
            <a:picLocks noChangeAspect="1"/>
          </p:cNvPicPr>
          <p:nvPr/>
        </p:nvPicPr>
        <p:blipFill>
          <a:blip r:embed="rId4"/>
          <a:srcRect l="0" r="0" t="-724" b="-724"/>
          <a:stretch/>
        </p:blipFill>
        <p:spPr>
          <a:xfrm>
            <a:off x="7845524" y="3855492"/>
            <a:ext cx="143966" cy="203200"/>
          </a:xfrm>
          <a:prstGeom prst="rect">
            <a:avLst/>
          </a:prstGeom>
        </p:spPr>
      </p:pic>
      <p:sp>
        <p:nvSpPr>
          <p:cNvPr id="30" name="Text 24"/>
          <p:cNvSpPr/>
          <p:nvPr/>
        </p:nvSpPr>
        <p:spPr>
          <a:xfrm>
            <a:off x="8065691" y="3759002"/>
            <a:ext cx="1314004"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Next:</a:t>
            </a:r>
            <a:r>
              <a:rPr lang="en-US" sz="1200" dirty="0">
                <a:solidFill>
                  <a:srgbClr val="14213D"/>
                </a:solidFill>
                <a:latin typeface="IBM Plex Sans" pitchFamily="34" charset="0"/>
                <a:ea typeface="IBM Plex Sans" pitchFamily="34" charset="-122"/>
                <a:cs typeface="IBM Plex Sans" pitchFamily="34" charset="-120"/>
              </a:rPr>
              <a:t> DrugBAN timing run</a:t>
            </a:r>
            <a:endParaRPr lang="en-US" sz="1200" dirty="0"/>
          </a:p>
        </p:txBody>
      </p:sp>
      <p:sp>
        <p:nvSpPr>
          <p:cNvPr id="31" name="Text 25"/>
          <p:cNvSpPr/>
          <p:nvPr/>
        </p:nvSpPr>
        <p:spPr>
          <a:xfrm>
            <a:off x="9582894" y="381486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B7280"/>
                </a:solidFill>
                <a:latin typeface="IBM Plex Sans" pitchFamily="34" charset="0"/>
                <a:ea typeface="IBM Plex Sans" pitchFamily="34" charset="-122"/>
                <a:cs typeface="IBM Plex Sans" pitchFamily="34" charset="-120"/>
              </a:rPr>
              <a:t>→</a:t>
            </a:r>
            <a:endParaRPr lang="en-US" sz="1600" dirty="0"/>
          </a:p>
        </p:txBody>
      </p:sp>
      <p:sp>
        <p:nvSpPr>
          <p:cNvPr id="32" name="Shape 26"/>
          <p:cNvSpPr/>
          <p:nvPr/>
        </p:nvSpPr>
        <p:spPr>
          <a:xfrm>
            <a:off x="9887694" y="3728492"/>
            <a:ext cx="1491506" cy="457200"/>
          </a:xfrm>
          <a:prstGeom prst="roundRect">
            <a:avLst>
              <a:gd name="adj" fmla="val 16667"/>
            </a:avLst>
          </a:prstGeom>
          <a:solidFill>
            <a:srgbClr val="EEF1F4"/>
          </a:solidFill>
          <a:ln/>
        </p:spPr>
      </p:sp>
      <p:pic>
        <p:nvPicPr>
          <p:cNvPr id="33" name="Image 4" descr="Play">    </p:cNvPr>
          <p:cNvPicPr>
            <a:picLocks noChangeAspect="1"/>
          </p:cNvPicPr>
          <p:nvPr/>
        </p:nvPicPr>
        <p:blipFill>
          <a:blip r:embed="rId5"/>
          <a:srcRect l="0" r="0" t="0" b="0"/>
          <a:stretch/>
        </p:blipFill>
        <p:spPr>
          <a:xfrm>
            <a:off x="10040094" y="3855492"/>
            <a:ext cx="203200" cy="203200"/>
          </a:xfrm>
          <a:prstGeom prst="rect">
            <a:avLst/>
          </a:prstGeom>
        </p:spPr>
      </p:pic>
      <p:sp>
        <p:nvSpPr>
          <p:cNvPr id="34" name="Text 27"/>
          <p:cNvSpPr/>
          <p:nvPr/>
        </p:nvSpPr>
        <p:spPr>
          <a:xfrm>
            <a:off x="10319494" y="3858022"/>
            <a:ext cx="95259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Then:</a:t>
            </a:r>
            <a:r>
              <a:rPr lang="en-US" sz="1200" dirty="0">
                <a:solidFill>
                  <a:srgbClr val="14213D"/>
                </a:solidFill>
                <a:latin typeface="IBM Plex Sans" pitchFamily="34" charset="0"/>
                <a:ea typeface="IBM Plex Sans" pitchFamily="34" charset="-122"/>
                <a:cs typeface="IBM Plex Sans" pitchFamily="34" charset="-120"/>
              </a:rPr>
              <a:t> launch</a:t>
            </a:r>
            <a:endParaRPr lang="en-US" sz="1200" dirty="0"/>
          </a:p>
        </p:txBody>
      </p:sp>
      <p:sp>
        <p:nvSpPr>
          <p:cNvPr id="35" name="Text 28"/>
          <p:cNvSpPr/>
          <p:nvPr/>
        </p:nvSpPr>
        <p:spPr>
          <a:xfrm>
            <a:off x="812800" y="4485382"/>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C"/>
                </a:solidFill>
                <a:latin typeface="IBM Plex Sans" pitchFamily="34" charset="0"/>
                <a:ea typeface="IBM Plex Sans" pitchFamily="34" charset="-122"/>
                <a:cs typeface="IBM Plex Sans" pitchFamily="34" charset="-120"/>
              </a:rPr>
              <a:t>Quota: 30 GPU-hours per week per account. Accounts 1 and 2 need 27.3 (mean) to 29.1 (high case), including a 15% reserve. </a:t>
            </a:r>
            <a:r>
              <a:rPr lang="en-US" sz="1300" b="1" dirty="0">
                <a:solidFill>
                  <a:srgbClr val="3E4A5C"/>
                </a:solidFill>
                <a:latin typeface="IBM Plex Sans" pitchFamily="34" charset="0"/>
                <a:ea typeface="IBM Plex Sans" pitchFamily="34" charset="-122"/>
                <a:cs typeface="IBM Plex Sans" pitchFamily="34" charset="-120"/>
              </a:rPr>
              <a:t>No Wave A result appears in any number in the paper.</a:t>
            </a:r>
            <a:endParaRPr lang="en-US" sz="1300" dirty="0"/>
          </a:p>
        </p:txBody>
      </p:sp>
      <p:sp>
        <p:nvSpPr>
          <p:cNvPr id="36" name="Text 29"/>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Sources: docs/wave_plan.md, config/wave_budget.json (hours from measured T4 speeds)</a:t>
            </a:r>
            <a:endParaRPr lang="en-US" sz="1200" dirty="0"/>
          </a:p>
        </p:txBody>
      </p:sp>
      <p:sp>
        <p:nvSpPr>
          <p:cNvPr id="37"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nvSpPr>
        <p:spPr>
          <a:xfrm>
            <a:off x="812800" y="10769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F3EFE6"/>
                </a:solidFill>
                <a:latin typeface="Source Serif 4" pitchFamily="34" charset="0"/>
                <a:ea typeface="Source Serif 4" pitchFamily="34" charset="-122"/>
                <a:cs typeface="Source Serif 4" pitchFamily="34" charset="-120"/>
              </a:rPr>
              <a:t>One attention map cannot carry a binding-site claim</a:t>
            </a:r>
            <a:endParaRPr lang="en-US" sz="3000" dirty="0"/>
          </a:p>
        </p:txBody>
      </p:sp>
      <p:sp>
        <p:nvSpPr>
          <p:cNvPr id="4" name="Shape 2"/>
          <p:cNvSpPr/>
          <p:nvPr/>
        </p:nvSpPr>
        <p:spPr>
          <a:xfrm>
            <a:off x="812800" y="1750020"/>
            <a:ext cx="5588000" cy="828030"/>
          </a:xfrm>
          <a:prstGeom prst="roundRect">
            <a:avLst>
              <a:gd name="adj" fmla="val 9203"/>
            </a:avLst>
          </a:prstGeom>
          <a:solidFill>
            <a:srgbClr val="1F2F52"/>
          </a:solidFill>
          <a:ln/>
        </p:spPr>
      </p:sp>
      <p:pic>
        <p:nvPicPr>
          <p:cNvPr id="5" name="Image 0" descr="Warning">    </p:cNvPr>
          <p:cNvPicPr>
            <a:picLocks noChangeAspect="1"/>
          </p:cNvPicPr>
          <p:nvPr/>
        </p:nvPicPr>
        <p:blipFill>
          <a:blip r:embed="rId1"/>
          <a:srcRect l="0" r="0" t="0" b="0"/>
          <a:stretch/>
        </p:blipFill>
        <p:spPr>
          <a:xfrm>
            <a:off x="1016000" y="2024311"/>
            <a:ext cx="279400" cy="279400"/>
          </a:xfrm>
          <a:prstGeom prst="rect">
            <a:avLst/>
          </a:prstGeom>
        </p:spPr>
      </p:pic>
      <p:sp>
        <p:nvSpPr>
          <p:cNvPr id="6" name="Text 3"/>
          <p:cNvSpPr/>
          <p:nvPr/>
        </p:nvSpPr>
        <p:spPr>
          <a:xfrm>
            <a:off x="1447800" y="1902420"/>
            <a:ext cx="489229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EFE6"/>
                </a:solidFill>
                <a:latin typeface="IBM Plex Sans" pitchFamily="34" charset="0"/>
                <a:ea typeface="IBM Plex Sans" pitchFamily="34" charset="-122"/>
                <a:cs typeface="IBM Plex Sans" pitchFamily="34" charset="-120"/>
              </a:rPr>
              <a:t>Residue-level claims rarely survive</a:t>
            </a:r>
            <a:endParaRPr lang="en-US" sz="1500" dirty="0"/>
          </a:p>
        </p:txBody>
      </p:sp>
      <p:sp>
        <p:nvSpPr>
          <p:cNvPr id="7" name="Text 4"/>
          <p:cNvSpPr/>
          <p:nvPr/>
        </p:nvSpPr>
        <p:spPr>
          <a:xfrm>
            <a:off x="1447800" y="2194520"/>
            <a:ext cx="489229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BDD"/>
                </a:solidFill>
                <a:latin typeface="IBM Plex Sans" pitchFamily="34" charset="0"/>
                <a:ea typeface="IBM Plex Sans" pitchFamily="34" charset="-122"/>
                <a:cs typeface="IBM Plex Sans" pitchFamily="34" charset="-120"/>
              </a:rPr>
              <a:t>1 of 20 DAVIS cells, 0 of 8 KIBA cells after correction</a:t>
            </a:r>
            <a:endParaRPr lang="en-US" sz="1300" dirty="0"/>
          </a:p>
        </p:txBody>
      </p:sp>
      <p:sp>
        <p:nvSpPr>
          <p:cNvPr id="8" name="Shape 5"/>
          <p:cNvSpPr/>
          <p:nvPr/>
        </p:nvSpPr>
        <p:spPr>
          <a:xfrm>
            <a:off x="812800" y="2705050"/>
            <a:ext cx="5588000" cy="828030"/>
          </a:xfrm>
          <a:prstGeom prst="roundRect">
            <a:avLst>
              <a:gd name="adj" fmla="val 9203"/>
            </a:avLst>
          </a:prstGeom>
          <a:solidFill>
            <a:srgbClr val="1F2F52"/>
          </a:solidFill>
          <a:ln/>
        </p:spPr>
      </p:sp>
      <p:pic>
        <p:nvPicPr>
          <p:cNvPr id="9" name="Image 1" descr="Activity">    </p:cNvPr>
          <p:cNvPicPr>
            <a:picLocks noChangeAspect="1"/>
          </p:cNvPicPr>
          <p:nvPr/>
        </p:nvPicPr>
        <p:blipFill>
          <a:blip r:embed="rId2"/>
          <a:srcRect l="0" r="0" t="0" b="0"/>
          <a:stretch/>
        </p:blipFill>
        <p:spPr>
          <a:xfrm>
            <a:off x="1016000" y="2979341"/>
            <a:ext cx="279400" cy="279400"/>
          </a:xfrm>
          <a:prstGeom prst="rect">
            <a:avLst/>
          </a:prstGeom>
        </p:spPr>
      </p:pic>
      <p:sp>
        <p:nvSpPr>
          <p:cNvPr id="10" name="Text 6"/>
          <p:cNvSpPr/>
          <p:nvPr/>
        </p:nvSpPr>
        <p:spPr>
          <a:xfrm>
            <a:off x="1447800" y="2857450"/>
            <a:ext cx="489229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EFE6"/>
                </a:solidFill>
                <a:latin typeface="IBM Plex Sans" pitchFamily="34" charset="0"/>
                <a:ea typeface="IBM Plex Sans" pitchFamily="34" charset="-122"/>
                <a:cs typeface="IBM Plex Sans" pitchFamily="34" charset="-120"/>
              </a:rPr>
              <a:t>Verdicts are unstable</a:t>
            </a:r>
            <a:endParaRPr lang="en-US" sz="1500" dirty="0"/>
          </a:p>
        </p:txBody>
      </p:sp>
      <p:sp>
        <p:nvSpPr>
          <p:cNvPr id="11" name="Text 7"/>
          <p:cNvSpPr/>
          <p:nvPr/>
        </p:nvSpPr>
        <p:spPr>
          <a:xfrm>
            <a:off x="1447800" y="3149550"/>
            <a:ext cx="489229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BDD"/>
                </a:solidFill>
                <a:latin typeface="IBM Plex Sans" pitchFamily="34" charset="0"/>
                <a:ea typeface="IBM Plex Sans" pitchFamily="34" charset="-122"/>
                <a:cs typeface="IBM Plex Sans" pitchFamily="34" charset="-120"/>
              </a:rPr>
              <a:t>Seeds disagree in 11 of 22 cells</a:t>
            </a:r>
            <a:endParaRPr lang="en-US" sz="1300" dirty="0"/>
          </a:p>
        </p:txBody>
      </p:sp>
      <p:sp>
        <p:nvSpPr>
          <p:cNvPr id="12" name="Shape 8"/>
          <p:cNvSpPr/>
          <p:nvPr/>
        </p:nvSpPr>
        <p:spPr>
          <a:xfrm>
            <a:off x="812800" y="3660080"/>
            <a:ext cx="5588000" cy="828030"/>
          </a:xfrm>
          <a:prstGeom prst="roundRect">
            <a:avLst>
              <a:gd name="adj" fmla="val 9203"/>
            </a:avLst>
          </a:prstGeom>
          <a:solidFill>
            <a:srgbClr val="1F2F52"/>
          </a:solidFill>
          <a:ln/>
        </p:spPr>
      </p:sp>
      <p:pic>
        <p:nvPicPr>
          <p:cNvPr id="13" name="Image 2" descr="CheckCircle">    </p:cNvPr>
          <p:cNvPicPr>
            <a:picLocks noChangeAspect="1"/>
          </p:cNvPicPr>
          <p:nvPr/>
        </p:nvPicPr>
        <p:blipFill>
          <a:blip r:embed="rId3"/>
          <a:srcRect l="0" r="0" t="0" b="0"/>
          <a:stretch/>
        </p:blipFill>
        <p:spPr>
          <a:xfrm>
            <a:off x="1016000" y="3934371"/>
            <a:ext cx="279400" cy="279400"/>
          </a:xfrm>
          <a:prstGeom prst="rect">
            <a:avLst/>
          </a:prstGeom>
        </p:spPr>
      </p:pic>
      <p:sp>
        <p:nvSpPr>
          <p:cNvPr id="14" name="Text 9"/>
          <p:cNvSpPr/>
          <p:nvPr/>
        </p:nvSpPr>
        <p:spPr>
          <a:xfrm>
            <a:off x="1447800" y="3812480"/>
            <a:ext cx="489229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EFE6"/>
                </a:solidFill>
                <a:latin typeface="IBM Plex Sans" pitchFamily="34" charset="0"/>
                <a:ea typeface="IBM Plex Sans" pitchFamily="34" charset="-122"/>
                <a:cs typeface="IBM Plex Sans" pitchFamily="34" charset="-120"/>
              </a:rPr>
              <a:t>What holds is coarser</a:t>
            </a:r>
            <a:endParaRPr lang="en-US" sz="1500" dirty="0"/>
          </a:p>
        </p:txBody>
      </p:sp>
      <p:sp>
        <p:nvSpPr>
          <p:cNvPr id="15" name="Text 10"/>
          <p:cNvSpPr/>
          <p:nvPr/>
        </p:nvSpPr>
        <p:spPr>
          <a:xfrm>
            <a:off x="1447800" y="4104580"/>
            <a:ext cx="489229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BDD"/>
                </a:solidFill>
                <a:latin typeface="IBM Plex Sans" pitchFamily="34" charset="0"/>
                <a:ea typeface="IBM Plex Sans" pitchFamily="34" charset="-122"/>
                <a:cs typeface="IBM Plex Sans" pitchFamily="34" charset="-120"/>
              </a:rPr>
              <a:t>Load-bearing in 3 of 4 models; pocket enrichment for 2</a:t>
            </a:r>
            <a:endParaRPr lang="en-US" sz="1300" dirty="0"/>
          </a:p>
        </p:txBody>
      </p:sp>
      <p:sp>
        <p:nvSpPr>
          <p:cNvPr id="16" name="Shape 11"/>
          <p:cNvSpPr/>
          <p:nvPr/>
        </p:nvSpPr>
        <p:spPr>
          <a:xfrm>
            <a:off x="6705600" y="1750020"/>
            <a:ext cx="4673600" cy="2178050"/>
          </a:xfrm>
          <a:prstGeom prst="roundRect">
            <a:avLst>
              <a:gd name="adj" fmla="val 3499"/>
            </a:avLst>
          </a:prstGeom>
          <a:solidFill>
            <a:srgbClr val="FAF8F3"/>
          </a:solidFill>
          <a:ln/>
        </p:spPr>
      </p:sp>
      <p:pic>
        <p:nvPicPr>
          <p:cNvPr id="17" name="Image 3" descr="Figure 4: test AUROC against enrichment over chance for every attention-model cell and seed, with Spearman correlation">    </p:cNvPr>
          <p:cNvPicPr>
            <a:picLocks noChangeAspect="1"/>
          </p:cNvPicPr>
          <p:nvPr/>
        </p:nvPicPr>
        <p:blipFill>
          <a:blip r:embed="rId4"/>
          <a:srcRect l="0" r="0" t="-61" b="-61"/>
          <a:stretch/>
        </p:blipFill>
        <p:spPr>
          <a:xfrm>
            <a:off x="6781800" y="1826220"/>
            <a:ext cx="4521200" cy="2025650"/>
          </a:xfrm>
          <a:prstGeom prst="rect">
            <a:avLst/>
          </a:prstGeom>
        </p:spPr>
      </p:pic>
      <p:sp>
        <p:nvSpPr>
          <p:cNvPr id="18" name="Text 12"/>
          <p:cNvSpPr/>
          <p:nvPr/>
        </p:nvSpPr>
        <p:spPr>
          <a:xfrm>
            <a:off x="6705600" y="4004270"/>
            <a:ext cx="48138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D"/>
                </a:solidFill>
                <a:latin typeface="IBM Plex Sans" pitchFamily="34" charset="0"/>
                <a:ea typeface="IBM Plex Sans" pitchFamily="34" charset="-122"/>
                <a:cs typeface="IBM Plex Sans" pitchFamily="34" charset="-120"/>
              </a:rPr>
              <a:t>Figure 4 · Better accuracy does not mean better localisation: Spearman ρ = 0.003 [−0.309, 0.294] over 48 DAVIS cells.</a:t>
            </a:r>
            <a:endParaRPr lang="en-US" sz="1200" dirty="0"/>
          </a:p>
        </p:txBody>
      </p:sp>
      <p:sp>
        <p:nvSpPr>
          <p:cNvPr id="19" name="Text 1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D"/>
                </a:solidFill>
                <a:latin typeface="IBM Plex Sans" pitchFamily="34" charset="0"/>
                <a:ea typeface="IBM Plex Sans" pitchFamily="34" charset="-122"/>
                <a:cs typeface="IBM Plex Sans" pitchFamily="34" charset="-120"/>
              </a:rPr>
              <a:t>84 trained models · 1,202 passing tests · 986 numbers in the draft machine-checked against their source files, 0 failures</a:t>
            </a:r>
            <a:endParaRPr lang="en-US" sz="1200" dirty="0"/>
          </a:p>
        </p:txBody>
      </p:sp>
      <p:sp>
        <p:nvSpPr>
          <p:cNvPr id="20"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BDD"/>
                </a:solidFill>
                <a:latin typeface="IBM Plex Sans" pitchFamily="34" charset="0"/>
                <a:ea typeface="IBM Plex Sans" pitchFamily="34" charset="-122"/>
                <a:cs typeface="IBM Plex Sans" pitchFamily="34" charset="-120"/>
              </a:rPr>
              <a:t>10 / 10</a:t>
            </a:r>
            <a:endParaRPr lang="en-US" sz="1200" dirty="0"/>
          </a:p>
        </p:txBody>
      </p:sp>
      <p:sp>
        <p:nvSpPr>
          <p:cNvPr id="21" name="Leak card"/>
          <p:cNvSpPr/>
          <p:nvPr/>
        </p:nvSpPr>
        <p:spPr>
          <a:xfrm>
            <a:off x="813816" y="4617720"/>
            <a:ext cx="5586984" cy="828030"/>
          </a:xfrm>
          <a:prstGeom prst="roundRect">
            <a:avLst>
              <a:gd name="adj" fmla="val 9203"/>
            </a:avLst>
          </a:prstGeom>
          <a:solidFill>
            <a:srgbClr val="1F2F52"/>
          </a:solidFill>
          <a:ln/>
        </p:spPr>
      </p:sp>
      <p:pic>
        <p:nvPicPr>
          <p:cNvPr id="22" name="Leak icon" descr="image.png"/>
          <p:cNvPicPr>
            <a:picLocks noChangeAspect="1"/>
          </p:cNvPicPr>
          <p:nvPr/>
        </p:nvPicPr>
        <p:blipFill>
          <a:blip r:embed="rId7"/>
          <a:stretch>
            <a:fillRect/>
          </a:stretch>
        </p:blipFill>
        <p:spPr>
          <a:xfrm>
            <a:off x="1014984" y="4892040"/>
            <a:ext cx="283464" cy="283464"/>
          </a:xfrm>
          <a:prstGeom prst="rect">
            <a:avLst/>
          </a:prstGeom>
        </p:spPr>
      </p:pic>
      <p:sp>
        <p:nvSpPr>
          <p:cNvPr id="23" name="Leak title"/>
          <p:cNvSpPr/>
          <p:nvPr/>
        </p:nvSpPr>
        <p:spPr>
          <a:xfrm>
            <a:off x="1444752" y="4773168"/>
            <a:ext cx="48920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EFE6"/>
                </a:solidFill>
                <a:latin typeface="IBM Plex Sans" pitchFamily="34" charset="0"/>
                <a:ea typeface="IBM Plex Sans" pitchFamily="34" charset="-122"/>
                <a:cs typeface="IBM Plex Sans" pitchFamily="34" charset="-120"/>
              </a:rPr>
              <a:t>The benchmark leaks</a:t>
            </a:r>
            <a:endParaRPr lang="en-US" sz="1500" dirty="0"/>
          </a:p>
        </p:txBody>
      </p:sp>
      <p:sp>
        <p:nvSpPr>
          <p:cNvPr id="24" name="Leak text"/>
          <p:cNvSpPr/>
          <p:nvPr/>
        </p:nvSpPr>
        <p:spPr>
          <a:xfrm>
            <a:off x="1444752" y="5065776"/>
            <a:ext cx="489204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BDD"/>
                </a:solidFill>
                <a:latin typeface="IBM Plex Sans" pitchFamily="34" charset="0"/>
                <a:ea typeface="IBM Plex Sans" pitchFamily="34" charset="-122"/>
                <a:cs typeface="IBM Plex Sans" pitchFamily="34" charset="-120"/>
              </a:rPr>
              <a:t>12 of 88 “unseen” proteins seen in training</a:t>
            </a:r>
            <a:endParaRPr lang="en-US" sz="1300" dirty="0"/>
          </a:p>
        </p:txBody>
      </p:sp>
      <p:sp>
        <p:nvSpPr>
          <p:cNvPr id="25" name="Checklist card"/>
          <p:cNvSpPr/>
          <p:nvPr/>
        </p:nvSpPr>
        <p:spPr>
          <a:xfrm>
            <a:off x="6702552" y="4617720"/>
            <a:ext cx="4672584" cy="828030"/>
          </a:xfrm>
          <a:prstGeom prst="roundRect">
            <a:avLst>
              <a:gd name="adj" fmla="val 9203"/>
            </a:avLst>
          </a:prstGeom>
          <a:solidFill>
            <a:srgbClr val="1F2F52"/>
          </a:solidFill>
          <a:ln/>
        </p:spPr>
      </p:sp>
      <p:pic>
        <p:nvPicPr>
          <p:cNvPr id="26" name="Checklist icon" descr="image.png"/>
          <p:cNvPicPr>
            <a:picLocks noChangeAspect="1"/>
          </p:cNvPicPr>
          <p:nvPr/>
        </p:nvPicPr>
        <p:blipFill>
          <a:blip r:embed="rId8"/>
          <a:stretch>
            <a:fillRect/>
          </a:stretch>
        </p:blipFill>
        <p:spPr>
          <a:xfrm>
            <a:off x="6903720" y="4892040"/>
            <a:ext cx="230314" cy="283464"/>
          </a:xfrm>
          <a:prstGeom prst="rect">
            <a:avLst/>
          </a:prstGeom>
        </p:spPr>
      </p:pic>
      <p:sp>
        <p:nvSpPr>
          <p:cNvPr id="27" name="Checklist title"/>
          <p:cNvSpPr/>
          <p:nvPr/>
        </p:nvSpPr>
        <p:spPr>
          <a:xfrm>
            <a:off x="7333488" y="4773168"/>
            <a:ext cx="39319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EFE6"/>
                </a:solidFill>
                <a:latin typeface="IBM Plex Sans" pitchFamily="34" charset="0"/>
                <a:ea typeface="IBM Plex Sans" pitchFamily="34" charset="-122"/>
                <a:cs typeface="IBM Plex Sans" pitchFamily="34" charset="-120"/>
              </a:rPr>
              <a:t>The fix: an eight-point checklist</a:t>
            </a:r>
            <a:endParaRPr lang="en-US" sz="1500" dirty="0"/>
          </a:p>
        </p:txBody>
      </p:sp>
      <p:sp>
        <p:nvSpPr>
          <p:cNvPr id="28" name="Checklist text"/>
          <p:cNvSpPr/>
          <p:nvPr/>
        </p:nvSpPr>
        <p:spPr>
          <a:xfrm>
            <a:off x="7333488" y="5065776"/>
            <a:ext cx="39319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BDD"/>
                </a:solidFill>
                <a:latin typeface="IBM Plex Sans" pitchFamily="34" charset="0"/>
                <a:ea typeface="IBM Plex Sans" pitchFamily="34" charset="-122"/>
                <a:cs typeface="IBM Plex Sans" pitchFamily="34" charset="-120"/>
              </a:rPr>
              <a:t>Eight checks, each from a finding in our data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Seed-Dependent Verdicts — Instructor Briefing</dc:title>
  <dc:subject>PptxGenJS Presentation</dc:subject>
  <dc:creator>PptxGenJS</dc:creator>
  <cp:lastModifiedBy>PptxGenJS</cp:lastModifiedBy>
  <cp:revision>1</cp:revision>
  <dcterms:created xsi:type="dcterms:W3CDTF">2026-09-28T20:52:00Z</dcterms:created>
  <dcterms:modified xsi:type="dcterms:W3CDTF">2026-09-28T20:52:00Z</dcterms:modified>
</cp:coreProperties>
</file>